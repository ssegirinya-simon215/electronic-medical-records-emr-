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1047186768" y="0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43178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069407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767501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4059834" name="PlaceHolder 4"/>
          <p:cNvSpPr>
            <a:spLocks noGrp="1"/>
          </p:cNvSpPr>
          <p:nvPr>
            <p:ph type="dt" idx="1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668323" name="PlaceHolder 5"/>
          <p:cNvSpPr>
            <a:spLocks noGrp="1"/>
          </p:cNvSpPr>
          <p:nvPr>
            <p:ph type="ftr" idx="2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8372959" name="PlaceHolder 6"/>
          <p:cNvSpPr>
            <a:spLocks noGrp="1"/>
          </p:cNvSpPr>
          <p:nvPr>
            <p:ph type="sldNum" idx="3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F3C5A3CF-2D9C-4AA2-9810-0854472629AC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&lt;number&gt;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969189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5544946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387772" name="PlaceHolder 3"/>
          <p:cNvSpPr>
            <a:spLocks noGrp="1"/>
          </p:cNvSpPr>
          <p:nvPr>
            <p:ph type="sldNum" idx="4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D394353-6D8A-4AB5-B270-085E4F93678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68271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3897745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2091084" name="PlaceHolder 3"/>
          <p:cNvSpPr>
            <a:spLocks noGrp="1"/>
          </p:cNvSpPr>
          <p:nvPr>
            <p:ph type="sldNum" idx="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4FB3726-1D40-49A5-BFE9-FEBC69A2F0F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54714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22591174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0837473" name="PlaceHolder 3"/>
          <p:cNvSpPr>
            <a:spLocks noGrp="1"/>
          </p:cNvSpPr>
          <p:nvPr>
            <p:ph type="sldNum" idx="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8CC9D79-A3FF-463E-9DDA-3EC4A7C7283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620611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93254474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561028" name="PlaceHolder 3"/>
          <p:cNvSpPr>
            <a:spLocks noGrp="1"/>
          </p:cNvSpPr>
          <p:nvPr>
            <p:ph type="sldNum" idx="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A810A56-B084-4B8C-94AE-50F760BEC5C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46958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214018047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806892" name="PlaceHolder 3"/>
          <p:cNvSpPr>
            <a:spLocks noGrp="1"/>
          </p:cNvSpPr>
          <p:nvPr>
            <p:ph type="sldNum" idx="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64258693-8781-4332-AFE5-AA5AD9D8B2C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04676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85497100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5130433" name="PlaceHolder 3"/>
          <p:cNvSpPr>
            <a:spLocks noGrp="1"/>
          </p:cNvSpPr>
          <p:nvPr>
            <p:ph type="sldNum" idx="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FADBF09-0D3D-4979-BDF4-A025A3F160B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714599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203183253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334066" name="PlaceHolder 3"/>
          <p:cNvSpPr>
            <a:spLocks noGrp="1"/>
          </p:cNvSpPr>
          <p:nvPr>
            <p:ph type="sldNum" idx="1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B075CCA-0A96-4707-B903-368D5437B21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65926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91275430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074387" name="PlaceHolder 3"/>
          <p:cNvSpPr>
            <a:spLocks noGrp="1"/>
          </p:cNvSpPr>
          <p:nvPr>
            <p:ph type="sldNum" idx="1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EB0A44B-B1B8-4D82-9F5E-80200193C41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415091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45194248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3351647" name="PlaceHolder 3"/>
          <p:cNvSpPr>
            <a:spLocks noGrp="1"/>
          </p:cNvSpPr>
          <p:nvPr>
            <p:ph type="sldNum" idx="12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2660590-6BBC-4E0E-B855-95D97F47AC7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989388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7319423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006944" name="PlaceHolder 3"/>
          <p:cNvSpPr>
            <a:spLocks noGrp="1"/>
          </p:cNvSpPr>
          <p:nvPr>
            <p:ph type="sldNum" idx="13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5C4D277-087C-46D8-8105-C151EA3E587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19116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211572327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321098" name="PlaceHolder 3"/>
          <p:cNvSpPr>
            <a:spLocks noGrp="1"/>
          </p:cNvSpPr>
          <p:nvPr>
            <p:ph type="sldNum" idx="14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BC0D729-5C56-41C2-A42D-5F5746A262F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335905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48595350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9161400" name="PlaceHolder 3"/>
          <p:cNvSpPr>
            <a:spLocks noGrp="1"/>
          </p:cNvSpPr>
          <p:nvPr>
            <p:ph type="sldNum" idx="1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92A67489-3941-4849-864C-C9ECA834ED9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DEFAU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76418" name="PlaceHolder 1"/>
          <p:cNvSpPr>
            <a:spLocks noGrp="1"/>
          </p:cNvSpPr>
          <p:nvPr>
            <p:ph type="title"/>
          </p:nvPr>
        </p:nvSpPr>
        <p:spPr bwMode="auto"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4798589" name="PlaceHolder 2"/>
          <p:cNvSpPr>
            <a:spLocks noGrp="1"/>
          </p:cNvSpPr>
          <p:nvPr>
            <p:ph type="body"/>
          </p:nvPr>
        </p:nvSpPr>
        <p:spPr bwMode="auto"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21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229347" name="Shape 0"/>
          <p:cNvSpPr/>
          <p:nvPr/>
        </p:nvSpPr>
        <p:spPr bwMode="auto">
          <a:xfrm>
            <a:off x="0" y="0"/>
            <a:ext cx="164160" cy="51433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4528634" name="Image 0" descr="preencoded.png"/>
          <p:cNvPicPr/>
          <p:nvPr/>
        </p:nvPicPr>
        <p:blipFill rotWithShape="1">
          <a:blip r:embed="rId3">
            <a:alphaModFix amt="80000"/>
          </a:blip>
          <a:stretch/>
        </p:blipFill>
        <p:spPr bwMode="auto">
          <a:xfrm>
            <a:off x="6583680" y="457200"/>
            <a:ext cx="2011320" cy="2011320"/>
          </a:xfrm>
          <a:prstGeom prst="rect">
            <a:avLst/>
          </a:prstGeom>
          <a:ln w="0">
            <a:noFill/>
          </a:ln>
        </p:spPr>
      </p:pic>
      <p:sp>
        <p:nvSpPr>
          <p:cNvPr id="428716405" name="Text 1"/>
          <p:cNvSpPr/>
          <p:nvPr/>
        </p:nvSpPr>
        <p:spPr bwMode="auto">
          <a:xfrm>
            <a:off x="365760" y="50292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1" strike="noStrike" spc="299">
                <a:solidFill>
                  <a:srgbClr val="0B7A75"/>
                </a:solidFill>
                <a:latin typeface="Calibri"/>
                <a:ea typeface="Calibri"/>
              </a:rPr>
              <a:t>DATABASE MANAGEMENT SYSTEMS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545640" name="Text 2"/>
          <p:cNvSpPr/>
          <p:nvPr/>
        </p:nvSpPr>
        <p:spPr bwMode="auto">
          <a:xfrm>
            <a:off x="365760" y="960120"/>
            <a:ext cx="62175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4200" b="1" strike="noStrike" spc="-1">
                <a:solidFill>
                  <a:srgbClr val="FFFFFF"/>
                </a:solidFill>
                <a:latin typeface="Georgia"/>
                <a:ea typeface="Georgia"/>
              </a:rPr>
              <a:t>Electronic Medical</a:t>
            </a:r>
            <a:endParaRPr lang="en-US" sz="420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4200" b="1" strike="noStrike" spc="-1">
                <a:solidFill>
                  <a:srgbClr val="FFFFFF"/>
                </a:solidFill>
                <a:latin typeface="Georgia"/>
                <a:ea typeface="Georgia"/>
              </a:rPr>
              <a:t>Records System</a:t>
            </a:r>
            <a:endParaRPr lang="en-US" sz="4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8801775" name="Text 3"/>
          <p:cNvSpPr/>
          <p:nvPr/>
        </p:nvSpPr>
        <p:spPr bwMode="auto">
          <a:xfrm rot="0">
            <a:off x="563448" y="3824664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0" i="1" strike="noStrike" spc="-1">
                <a:solidFill>
                  <a:srgbClr val="A0C4BF"/>
                </a:solidFill>
                <a:latin typeface="Calibri"/>
                <a:ea typeface="Calibri"/>
              </a:rPr>
              <a:t>Hospital Management System  ·  Database Design &amp; Implementation</a:t>
            </a:r>
            <a:endParaRPr lang="en-US" sz="1500" b="0" strike="noStrike" spc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500" b="0" strike="noStrike" spc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500" b="0" strike="noStrike" spc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0" strike="noStrike" spc="0">
                <a:solidFill>
                  <a:srgbClr val="FFFFFF"/>
                </a:solidFill>
                <a:latin typeface="Asana Math"/>
                <a:ea typeface="Asana Math"/>
                <a:cs typeface="Asana Math"/>
              </a:rPr>
              <a:t>                 Ssegirinya Simon (2025/BCS/215/PS)</a:t>
            </a:r>
            <a:endParaRPr lang="en-US" sz="1500" b="0" strike="noStrike" spc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500" b="0" strike="noStrike" spc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500" b="0" strike="noStrike" spc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A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890093" name="Text 0"/>
          <p:cNvSpPr/>
          <p:nvPr/>
        </p:nvSpPr>
        <p:spPr bwMode="auto"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800" b="1" strike="noStrike" spc="-1">
                <a:solidFill>
                  <a:srgbClr val="0D2137"/>
                </a:solidFill>
                <a:latin typeface="Georgia"/>
                <a:ea typeface="Georgia"/>
              </a:rPr>
              <a:t>Presentation Overview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6625859" name="Shape 1"/>
          <p:cNvSpPr/>
          <p:nvPr/>
        </p:nvSpPr>
        <p:spPr bwMode="auto">
          <a:xfrm>
            <a:off x="457200" y="868680"/>
            <a:ext cx="1096920" cy="543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981608" name="Shape 2"/>
          <p:cNvSpPr/>
          <p:nvPr/>
        </p:nvSpPr>
        <p:spPr bwMode="auto">
          <a:xfrm>
            <a:off x="457200" y="1051560"/>
            <a:ext cx="402300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198706" name="Shape 3"/>
          <p:cNvSpPr/>
          <p:nvPr/>
        </p:nvSpPr>
        <p:spPr bwMode="auto">
          <a:xfrm>
            <a:off x="457200" y="1051560"/>
            <a:ext cx="72720" cy="10512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730074" name="Shape 4"/>
          <p:cNvSpPr/>
          <p:nvPr/>
        </p:nvSpPr>
        <p:spPr bwMode="auto">
          <a:xfrm>
            <a:off x="567000" y="1280160"/>
            <a:ext cx="594000" cy="5940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8812575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594360" y="129852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91453828" name="Text 5"/>
          <p:cNvSpPr/>
          <p:nvPr/>
        </p:nvSpPr>
        <p:spPr bwMode="auto">
          <a:xfrm>
            <a:off x="1234440" y="112464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100" b="1" strike="noStrike" spc="-1">
                <a:solidFill>
                  <a:srgbClr val="0B7A75"/>
                </a:solidFill>
                <a:latin typeface="Calibri"/>
                <a:ea typeface="Calibri"/>
              </a:rPr>
              <a:t>01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0502643" name="Text 6"/>
          <p:cNvSpPr/>
          <p:nvPr/>
        </p:nvSpPr>
        <p:spPr bwMode="auto">
          <a:xfrm>
            <a:off x="1234440" y="13989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  <a:ea typeface="Calibri"/>
              </a:rPr>
              <a:t>System Selection &amp; Justification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05378" name="Shape 7"/>
          <p:cNvSpPr/>
          <p:nvPr/>
        </p:nvSpPr>
        <p:spPr bwMode="auto">
          <a:xfrm>
            <a:off x="457200" y="2286000"/>
            <a:ext cx="402300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634017" name="Shape 8"/>
          <p:cNvSpPr/>
          <p:nvPr/>
        </p:nvSpPr>
        <p:spPr bwMode="auto">
          <a:xfrm>
            <a:off x="457200" y="2286000"/>
            <a:ext cx="72720" cy="10512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8199580" name="Shape 9"/>
          <p:cNvSpPr/>
          <p:nvPr/>
        </p:nvSpPr>
        <p:spPr bwMode="auto">
          <a:xfrm>
            <a:off x="567000" y="2514600"/>
            <a:ext cx="594000" cy="5940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75487011" name="Image 1" descr="preencoded.png"/>
          <p:cNvPicPr/>
          <p:nvPr/>
        </p:nvPicPr>
        <p:blipFill rotWithShape="1">
          <a:blip r:embed="rId4"/>
          <a:stretch/>
        </p:blipFill>
        <p:spPr bwMode="auto">
          <a:xfrm>
            <a:off x="594360" y="253296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499600059" name="Text 10"/>
          <p:cNvSpPr/>
          <p:nvPr/>
        </p:nvSpPr>
        <p:spPr bwMode="auto">
          <a:xfrm>
            <a:off x="1234440" y="23590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100" b="1" strike="noStrike" spc="-1">
                <a:solidFill>
                  <a:srgbClr val="0B7A75"/>
                </a:solidFill>
                <a:latin typeface="Calibri"/>
                <a:ea typeface="Calibri"/>
              </a:rPr>
              <a:t>02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4496762" name="Text 11"/>
          <p:cNvSpPr/>
          <p:nvPr/>
        </p:nvSpPr>
        <p:spPr bwMode="auto">
          <a:xfrm>
            <a:off x="1234440" y="26334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  <a:ea typeface="Calibri"/>
              </a:rPr>
              <a:t>Business Case &amp; Application Domain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720918" name="Shape 12"/>
          <p:cNvSpPr/>
          <p:nvPr/>
        </p:nvSpPr>
        <p:spPr bwMode="auto">
          <a:xfrm>
            <a:off x="457200" y="3520440"/>
            <a:ext cx="402300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425726" name="Shape 13"/>
          <p:cNvSpPr/>
          <p:nvPr/>
        </p:nvSpPr>
        <p:spPr bwMode="auto">
          <a:xfrm>
            <a:off x="457200" y="3520440"/>
            <a:ext cx="72720" cy="10512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0182580" name="Shape 14"/>
          <p:cNvSpPr/>
          <p:nvPr/>
        </p:nvSpPr>
        <p:spPr bwMode="auto">
          <a:xfrm>
            <a:off x="567000" y="3749040"/>
            <a:ext cx="594000" cy="5940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27604840" name="Image 2" descr="preencoded.png"/>
          <p:cNvPicPr/>
          <p:nvPr/>
        </p:nvPicPr>
        <p:blipFill rotWithShape="1">
          <a:blip r:embed="rId5"/>
          <a:stretch/>
        </p:blipFill>
        <p:spPr bwMode="auto">
          <a:xfrm>
            <a:off x="594360" y="376740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66627362" name="Text 15"/>
          <p:cNvSpPr/>
          <p:nvPr/>
        </p:nvSpPr>
        <p:spPr bwMode="auto">
          <a:xfrm>
            <a:off x="1234440" y="3593519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100" b="1" strike="noStrike" spc="-1">
                <a:solidFill>
                  <a:srgbClr val="0B7A75"/>
                </a:solidFill>
                <a:latin typeface="Calibri"/>
                <a:ea typeface="Calibri"/>
              </a:rPr>
              <a:t>03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526665" name="Text 16"/>
          <p:cNvSpPr/>
          <p:nvPr/>
        </p:nvSpPr>
        <p:spPr bwMode="auto">
          <a:xfrm>
            <a:off x="1234440" y="386784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  <a:ea typeface="Calibri"/>
              </a:rPr>
              <a:t>Database Design &amp; ERD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402430" name="Shape 17"/>
          <p:cNvSpPr/>
          <p:nvPr/>
        </p:nvSpPr>
        <p:spPr bwMode="auto">
          <a:xfrm>
            <a:off x="4846320" y="1051560"/>
            <a:ext cx="402300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579839" name="Shape 18"/>
          <p:cNvSpPr/>
          <p:nvPr/>
        </p:nvSpPr>
        <p:spPr bwMode="auto">
          <a:xfrm>
            <a:off x="4846320" y="1051560"/>
            <a:ext cx="72720" cy="10512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5085257" name="Shape 19"/>
          <p:cNvSpPr/>
          <p:nvPr/>
        </p:nvSpPr>
        <p:spPr bwMode="auto">
          <a:xfrm>
            <a:off x="4956120" y="1280160"/>
            <a:ext cx="594000" cy="5940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95098510" name="Image 3" descr="preencoded.png"/>
          <p:cNvPicPr/>
          <p:nvPr/>
        </p:nvPicPr>
        <p:blipFill rotWithShape="1">
          <a:blip r:embed="rId6"/>
          <a:stretch/>
        </p:blipFill>
        <p:spPr bwMode="auto">
          <a:xfrm>
            <a:off x="4983480" y="129852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52452200" name="Text 20"/>
          <p:cNvSpPr/>
          <p:nvPr/>
        </p:nvSpPr>
        <p:spPr bwMode="auto">
          <a:xfrm>
            <a:off x="5623560" y="112464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100" b="1" strike="noStrike" spc="-1">
                <a:solidFill>
                  <a:srgbClr val="0B7A75"/>
                </a:solidFill>
                <a:latin typeface="Calibri"/>
                <a:ea typeface="Calibri"/>
              </a:rPr>
              <a:t>04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202672" name="Text 21"/>
          <p:cNvSpPr/>
          <p:nvPr/>
        </p:nvSpPr>
        <p:spPr bwMode="auto">
          <a:xfrm>
            <a:off x="5623560" y="139896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  <a:ea typeface="Calibri"/>
              </a:rPr>
              <a:t>MySQL Implementation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2425166" name="Shape 22"/>
          <p:cNvSpPr/>
          <p:nvPr/>
        </p:nvSpPr>
        <p:spPr bwMode="auto">
          <a:xfrm>
            <a:off x="4846320" y="2286000"/>
            <a:ext cx="402300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514989" name="Shape 23"/>
          <p:cNvSpPr/>
          <p:nvPr/>
        </p:nvSpPr>
        <p:spPr bwMode="auto">
          <a:xfrm>
            <a:off x="4846320" y="2286000"/>
            <a:ext cx="72720" cy="10512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7323138" name="Shape 24"/>
          <p:cNvSpPr/>
          <p:nvPr/>
        </p:nvSpPr>
        <p:spPr bwMode="auto">
          <a:xfrm>
            <a:off x="4956120" y="2514600"/>
            <a:ext cx="594000" cy="5940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4627232" name="Image 4" descr="preencoded.png"/>
          <p:cNvPicPr/>
          <p:nvPr/>
        </p:nvPicPr>
        <p:blipFill rotWithShape="1">
          <a:blip r:embed="rId7"/>
          <a:stretch/>
        </p:blipFill>
        <p:spPr bwMode="auto">
          <a:xfrm>
            <a:off x="4983480" y="253296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969346461" name="Text 25"/>
          <p:cNvSpPr/>
          <p:nvPr/>
        </p:nvSpPr>
        <p:spPr bwMode="auto">
          <a:xfrm>
            <a:off x="5623560" y="235908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100" b="1" strike="noStrike" spc="-1">
                <a:solidFill>
                  <a:srgbClr val="0B7A75"/>
                </a:solidFill>
                <a:latin typeface="Calibri"/>
                <a:ea typeface="Calibri"/>
              </a:rPr>
              <a:t>05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6883501" name="Text 26"/>
          <p:cNvSpPr/>
          <p:nvPr/>
        </p:nvSpPr>
        <p:spPr bwMode="auto">
          <a:xfrm>
            <a:off x="5623560" y="263340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  <a:ea typeface="Calibri"/>
              </a:rPr>
              <a:t>Sample Queries &amp; Results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9877214" name="Shape 27"/>
          <p:cNvSpPr/>
          <p:nvPr/>
        </p:nvSpPr>
        <p:spPr bwMode="auto">
          <a:xfrm>
            <a:off x="4846320" y="3520440"/>
            <a:ext cx="4023000" cy="105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4266130" name="Shape 28"/>
          <p:cNvSpPr/>
          <p:nvPr/>
        </p:nvSpPr>
        <p:spPr bwMode="auto">
          <a:xfrm>
            <a:off x="4846320" y="3520440"/>
            <a:ext cx="72720" cy="10512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442753" name="Shape 29"/>
          <p:cNvSpPr/>
          <p:nvPr/>
        </p:nvSpPr>
        <p:spPr bwMode="auto">
          <a:xfrm>
            <a:off x="4956120" y="3749040"/>
            <a:ext cx="594000" cy="5940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13280369" name="Image 5" descr="preencoded.png"/>
          <p:cNvPicPr/>
          <p:nvPr/>
        </p:nvPicPr>
        <p:blipFill rotWithShape="1">
          <a:blip r:embed="rId8"/>
          <a:stretch/>
        </p:blipFill>
        <p:spPr bwMode="auto">
          <a:xfrm>
            <a:off x="4983480" y="376740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97599580" name="Text 30"/>
          <p:cNvSpPr/>
          <p:nvPr/>
        </p:nvSpPr>
        <p:spPr bwMode="auto">
          <a:xfrm>
            <a:off x="5623560" y="3593519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100" b="1" strike="noStrike" spc="-1">
                <a:solidFill>
                  <a:srgbClr val="0B7A75"/>
                </a:solidFill>
                <a:latin typeface="Calibri"/>
                <a:ea typeface="Calibri"/>
              </a:rPr>
              <a:t>06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9684978" name="Text 31"/>
          <p:cNvSpPr/>
          <p:nvPr/>
        </p:nvSpPr>
        <p:spPr bwMode="auto">
          <a:xfrm>
            <a:off x="5623560" y="386784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-1">
                <a:solidFill>
                  <a:srgbClr val="1E293B"/>
                </a:solidFill>
                <a:latin typeface="Calibri"/>
                <a:ea typeface="Calibri"/>
              </a:rPr>
              <a:t>Real-World Reference: OpenMRS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A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978139" name="Text 0"/>
          <p:cNvSpPr/>
          <p:nvPr/>
        </p:nvSpPr>
        <p:spPr bwMode="auto">
          <a:xfrm>
            <a:off x="457200" y="255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strike="noStrike" spc="-1">
                <a:solidFill>
                  <a:srgbClr val="0D2137"/>
                </a:solidFill>
                <a:latin typeface="Georgia"/>
                <a:ea typeface="Georgia"/>
              </a:rPr>
              <a:t>01  System Selection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596276" name="Shape 1"/>
          <p:cNvSpPr/>
          <p:nvPr/>
        </p:nvSpPr>
        <p:spPr bwMode="auto">
          <a:xfrm>
            <a:off x="457200" y="795600"/>
            <a:ext cx="1096920" cy="543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173842" name="Shape 2"/>
          <p:cNvSpPr/>
          <p:nvPr/>
        </p:nvSpPr>
        <p:spPr bwMode="auto">
          <a:xfrm>
            <a:off x="457200" y="960120"/>
            <a:ext cx="4114440" cy="384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953969" name="Shape 3"/>
          <p:cNvSpPr/>
          <p:nvPr/>
        </p:nvSpPr>
        <p:spPr bwMode="auto">
          <a:xfrm>
            <a:off x="457200" y="960120"/>
            <a:ext cx="4114440" cy="727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30942449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1554480" y="1143000"/>
            <a:ext cx="1005480" cy="1005480"/>
          </a:xfrm>
          <a:prstGeom prst="rect">
            <a:avLst/>
          </a:prstGeom>
          <a:ln w="0">
            <a:noFill/>
          </a:ln>
        </p:spPr>
      </p:pic>
      <p:sp>
        <p:nvSpPr>
          <p:cNvPr id="456947986" name="Text 4"/>
          <p:cNvSpPr/>
          <p:nvPr/>
        </p:nvSpPr>
        <p:spPr bwMode="auto">
          <a:xfrm>
            <a:off x="548640" y="224028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00" b="1" strike="noStrike" spc="199">
                <a:solidFill>
                  <a:srgbClr val="0B7A75"/>
                </a:solidFill>
                <a:latin typeface="Calibri"/>
                <a:ea typeface="Calibri"/>
              </a:rPr>
              <a:t>CHOSEN SYSTEM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4894063" name="Text 5"/>
          <p:cNvSpPr/>
          <p:nvPr/>
        </p:nvSpPr>
        <p:spPr bwMode="auto">
          <a:xfrm>
            <a:off x="548640" y="2514600"/>
            <a:ext cx="3931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000" b="1" strike="noStrike" spc="-1">
                <a:solidFill>
                  <a:srgbClr val="FFFFFF"/>
                </a:solidFill>
                <a:latin typeface="Georgia"/>
                <a:ea typeface="Georgia"/>
              </a:rPr>
              <a:t>Electronic Medical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000" b="1" strike="noStrike" spc="-1">
                <a:solidFill>
                  <a:srgbClr val="FFFFFF"/>
                </a:solidFill>
                <a:latin typeface="Georgia"/>
                <a:ea typeface="Georgia"/>
              </a:rPr>
              <a:t>Records (EMR)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8374651" name="Text 6"/>
          <p:cNvSpPr/>
          <p:nvPr/>
        </p:nvSpPr>
        <p:spPr bwMode="auto">
          <a:xfrm>
            <a:off x="548640" y="33375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0" i="1" strike="noStrike" spc="-1">
                <a:solidFill>
                  <a:srgbClr val="A0C4BF"/>
                </a:solidFill>
                <a:latin typeface="Calibri"/>
                <a:ea typeface="Calibri"/>
              </a:rPr>
              <a:t>Hospital Setting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1249531" name="Text 7"/>
          <p:cNvSpPr/>
          <p:nvPr/>
        </p:nvSpPr>
        <p:spPr bwMode="auto">
          <a:xfrm>
            <a:off x="594360" y="3584519"/>
            <a:ext cx="3840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1" strike="noStrike" spc="-1">
                <a:solidFill>
                  <a:srgbClr val="F59E0B"/>
                </a:solidFill>
                <a:latin typeface="Calibri"/>
                <a:ea typeface="Calibri"/>
              </a:rPr>
              <a:t>Why EMR?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298805" name="Text 8"/>
          <p:cNvSpPr/>
          <p:nvPr/>
        </p:nvSpPr>
        <p:spPr bwMode="auto">
          <a:xfrm>
            <a:off x="548640" y="3858840"/>
            <a:ext cx="39315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A0C4BF"/>
              </a:buClr>
              <a:buFont typeface="Symbol"/>
              <a:buChar char=""/>
              <a:defRPr/>
            </a:pPr>
            <a:r>
              <a:rPr lang="en-US" sz="1000" b="0" strike="noStrike" spc="-1">
                <a:solidFill>
                  <a:srgbClr val="A0C4BF"/>
                </a:solidFill>
                <a:latin typeface="Calibri"/>
                <a:ea typeface="Calibri"/>
              </a:rPr>
              <a:t>Central backbone of all hospital operations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A0C4BF"/>
              </a:buClr>
              <a:buFont typeface="Symbol"/>
              <a:buChar char=""/>
              <a:defRPr/>
            </a:pPr>
            <a:r>
              <a:rPr lang="en-US" sz="1000" b="0" strike="noStrike" spc="-1">
                <a:solidFill>
                  <a:srgbClr val="A0C4BF"/>
                </a:solidFill>
                <a:latin typeface="Calibri"/>
                <a:ea typeface="Calibri"/>
              </a:rPr>
              <a:t>Rich relational structure with many entities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A0C4BF"/>
              </a:buClr>
              <a:buFont typeface="Symbol"/>
              <a:buChar char=""/>
              <a:defRPr/>
            </a:pPr>
            <a:r>
              <a:rPr lang="en-US" sz="1000" b="0" strike="noStrike" spc="-1">
                <a:solidFill>
                  <a:srgbClr val="A0C4BF"/>
                </a:solidFill>
                <a:latin typeface="Calibri"/>
                <a:ea typeface="Calibri"/>
              </a:rPr>
              <a:t>Direct real-world applicability in health IT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A0C4BF"/>
              </a:buClr>
              <a:buFont typeface="Symbol"/>
              <a:buChar char=""/>
              <a:defRPr/>
            </a:pPr>
            <a:r>
              <a:rPr lang="en-US" sz="1000" b="0" strike="noStrike" spc="-1">
                <a:solidFill>
                  <a:srgbClr val="A0C4BF"/>
                </a:solidFill>
                <a:latin typeface="Calibri"/>
                <a:ea typeface="Calibri"/>
              </a:rPr>
              <a:t>Diverse data types — ideal for SQL practice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8571622" name="Text 9"/>
          <p:cNvSpPr/>
          <p:nvPr/>
        </p:nvSpPr>
        <p:spPr bwMode="auto">
          <a:xfrm>
            <a:off x="4754880" y="96012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-1">
                <a:solidFill>
                  <a:srgbClr val="0D2137"/>
                </a:solidFill>
                <a:latin typeface="Calibri"/>
                <a:ea typeface="Calibri"/>
              </a:rPr>
              <a:t>Other Possible Systems in Hospital Setting: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0044784" name="Shape 10"/>
          <p:cNvSpPr/>
          <p:nvPr/>
        </p:nvSpPr>
        <p:spPr bwMode="auto">
          <a:xfrm>
            <a:off x="4754880" y="1371600"/>
            <a:ext cx="420588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992335" name="Shape 11"/>
          <p:cNvSpPr/>
          <p:nvPr/>
        </p:nvSpPr>
        <p:spPr bwMode="auto">
          <a:xfrm>
            <a:off x="4754880" y="1371600"/>
            <a:ext cx="383760" cy="47520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10873157" name="Image 1" descr="preencoded.png"/>
          <p:cNvPicPr/>
          <p:nvPr/>
        </p:nvPicPr>
        <p:blipFill rotWithShape="1">
          <a:blip r:embed="rId4"/>
          <a:stretch/>
        </p:blipFill>
        <p:spPr bwMode="auto">
          <a:xfrm>
            <a:off x="4791600" y="142632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705531141" name="Text 12"/>
          <p:cNvSpPr/>
          <p:nvPr/>
        </p:nvSpPr>
        <p:spPr bwMode="auto">
          <a:xfrm>
            <a:off x="5212080" y="14630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strike="noStrike" spc="-1">
                <a:solidFill>
                  <a:srgbClr val="1E293B"/>
                </a:solidFill>
                <a:latin typeface="Calibri"/>
                <a:ea typeface="Calibri"/>
              </a:rPr>
              <a:t>Pharmacy Management System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976955" name="Shape 13"/>
          <p:cNvSpPr/>
          <p:nvPr/>
        </p:nvSpPr>
        <p:spPr bwMode="auto">
          <a:xfrm>
            <a:off x="4754880" y="1956960"/>
            <a:ext cx="420588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4368942" name="Shape 14"/>
          <p:cNvSpPr/>
          <p:nvPr/>
        </p:nvSpPr>
        <p:spPr bwMode="auto">
          <a:xfrm>
            <a:off x="4754880" y="1956960"/>
            <a:ext cx="383760" cy="47520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0527247" name="Image 2" descr="preencoded.png"/>
          <p:cNvPicPr/>
          <p:nvPr/>
        </p:nvPicPr>
        <p:blipFill rotWithShape="1">
          <a:blip r:embed="rId5"/>
          <a:stretch/>
        </p:blipFill>
        <p:spPr bwMode="auto">
          <a:xfrm>
            <a:off x="4791600" y="201168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46099892" name="Text 15"/>
          <p:cNvSpPr/>
          <p:nvPr/>
        </p:nvSpPr>
        <p:spPr bwMode="auto">
          <a:xfrm>
            <a:off x="5212080" y="20484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strike="noStrike" spc="-1">
                <a:solidFill>
                  <a:srgbClr val="1E293B"/>
                </a:solidFill>
                <a:latin typeface="Calibri"/>
                <a:ea typeface="Calibri"/>
              </a:rPr>
              <a:t>Hospital Billing System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83375" name="Shape 16"/>
          <p:cNvSpPr/>
          <p:nvPr/>
        </p:nvSpPr>
        <p:spPr bwMode="auto">
          <a:xfrm>
            <a:off x="4754880" y="2541960"/>
            <a:ext cx="420588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9716419" name="Shape 17"/>
          <p:cNvSpPr/>
          <p:nvPr/>
        </p:nvSpPr>
        <p:spPr bwMode="auto">
          <a:xfrm>
            <a:off x="4754880" y="2541960"/>
            <a:ext cx="383760" cy="47520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8640125" name="Image 3" descr="preencoded.png"/>
          <p:cNvPicPr/>
          <p:nvPr/>
        </p:nvPicPr>
        <p:blipFill rotWithShape="1">
          <a:blip r:embed="rId6"/>
          <a:stretch/>
        </p:blipFill>
        <p:spPr bwMode="auto">
          <a:xfrm>
            <a:off x="4791600" y="259704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418119158" name="Text 18"/>
          <p:cNvSpPr/>
          <p:nvPr/>
        </p:nvSpPr>
        <p:spPr bwMode="auto">
          <a:xfrm>
            <a:off x="5212080" y="26334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strike="noStrike" spc="-1">
                <a:solidFill>
                  <a:srgbClr val="1E293B"/>
                </a:solidFill>
                <a:latin typeface="Calibri"/>
                <a:ea typeface="Calibri"/>
              </a:rPr>
              <a:t>Laboratory Information System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232406" name="Shape 19"/>
          <p:cNvSpPr/>
          <p:nvPr/>
        </p:nvSpPr>
        <p:spPr bwMode="auto">
          <a:xfrm>
            <a:off x="4754880" y="3127320"/>
            <a:ext cx="420588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894772" name="Shape 20"/>
          <p:cNvSpPr/>
          <p:nvPr/>
        </p:nvSpPr>
        <p:spPr bwMode="auto">
          <a:xfrm>
            <a:off x="4754880" y="3127320"/>
            <a:ext cx="383760" cy="47520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2479459" name="Image 4" descr="preencoded.png"/>
          <p:cNvPicPr/>
          <p:nvPr/>
        </p:nvPicPr>
        <p:blipFill rotWithShape="1">
          <a:blip r:embed="rId7"/>
          <a:stretch/>
        </p:blipFill>
        <p:spPr bwMode="auto">
          <a:xfrm>
            <a:off x="4791600" y="318204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2021338524" name="Text 21"/>
          <p:cNvSpPr/>
          <p:nvPr/>
        </p:nvSpPr>
        <p:spPr bwMode="auto">
          <a:xfrm>
            <a:off x="5212080" y="32187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strike="noStrike" spc="-1">
                <a:solidFill>
                  <a:srgbClr val="1E293B"/>
                </a:solidFill>
                <a:latin typeface="Calibri"/>
                <a:ea typeface="Calibri"/>
              </a:rPr>
              <a:t>Ward Admission System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229419" name="Shape 22"/>
          <p:cNvSpPr/>
          <p:nvPr/>
        </p:nvSpPr>
        <p:spPr bwMode="auto">
          <a:xfrm>
            <a:off x="4754880" y="3712320"/>
            <a:ext cx="420588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669184" name="Shape 23"/>
          <p:cNvSpPr/>
          <p:nvPr/>
        </p:nvSpPr>
        <p:spPr bwMode="auto">
          <a:xfrm>
            <a:off x="4754880" y="3712320"/>
            <a:ext cx="383760" cy="47520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7922488" name="Image 5" descr="preencoded.png"/>
          <p:cNvPicPr/>
          <p:nvPr/>
        </p:nvPicPr>
        <p:blipFill rotWithShape="1">
          <a:blip r:embed="rId8"/>
          <a:stretch/>
        </p:blipFill>
        <p:spPr bwMode="auto">
          <a:xfrm>
            <a:off x="4791600" y="37674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652443104" name="Text 24"/>
          <p:cNvSpPr/>
          <p:nvPr/>
        </p:nvSpPr>
        <p:spPr bwMode="auto">
          <a:xfrm>
            <a:off x="5212080" y="38037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strike="noStrike" spc="-1">
                <a:solidFill>
                  <a:srgbClr val="1E293B"/>
                </a:solidFill>
                <a:latin typeface="Calibri"/>
                <a:ea typeface="Calibri"/>
              </a:rPr>
              <a:t>HR &amp; Payroll System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802100" name="Shape 25"/>
          <p:cNvSpPr/>
          <p:nvPr/>
        </p:nvSpPr>
        <p:spPr bwMode="auto">
          <a:xfrm>
            <a:off x="4754880" y="4297680"/>
            <a:ext cx="4205880" cy="475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813649" name="Shape 26"/>
          <p:cNvSpPr/>
          <p:nvPr/>
        </p:nvSpPr>
        <p:spPr bwMode="auto">
          <a:xfrm>
            <a:off x="4754880" y="4297680"/>
            <a:ext cx="383760" cy="47520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8798495" name="Image 6" descr="preencoded.png"/>
          <p:cNvPicPr/>
          <p:nvPr/>
        </p:nvPicPr>
        <p:blipFill rotWithShape="1">
          <a:blip r:embed="rId9"/>
          <a:stretch/>
        </p:blipFill>
        <p:spPr bwMode="auto">
          <a:xfrm>
            <a:off x="4791600" y="435240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2023045310" name="Text 27"/>
          <p:cNvSpPr/>
          <p:nvPr/>
        </p:nvSpPr>
        <p:spPr bwMode="auto">
          <a:xfrm>
            <a:off x="5212080" y="43891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strike="noStrike" spc="-1">
                <a:solidFill>
                  <a:srgbClr val="1E293B"/>
                </a:solidFill>
                <a:latin typeface="Calibri"/>
                <a:ea typeface="Calibri"/>
              </a:rPr>
              <a:t>Appointment Scheduling System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A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028477" name="Text 0"/>
          <p:cNvSpPr/>
          <p:nvPr/>
        </p:nvSpPr>
        <p:spPr bwMode="auto">
          <a:xfrm>
            <a:off x="457200" y="255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strike="noStrike" spc="-1">
                <a:solidFill>
                  <a:srgbClr val="0D2137"/>
                </a:solidFill>
                <a:latin typeface="Georgia"/>
                <a:ea typeface="Georgia"/>
              </a:rPr>
              <a:t>02  Business Case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8797339" name="Shape 1"/>
          <p:cNvSpPr/>
          <p:nvPr/>
        </p:nvSpPr>
        <p:spPr bwMode="auto">
          <a:xfrm>
            <a:off x="457200" y="795600"/>
            <a:ext cx="1096920" cy="543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947008" name="Shape 2"/>
          <p:cNvSpPr/>
          <p:nvPr/>
        </p:nvSpPr>
        <p:spPr bwMode="auto">
          <a:xfrm>
            <a:off x="457200" y="960120"/>
            <a:ext cx="8503560" cy="7311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71915753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548640" y="100584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053690889" name="Text 3"/>
          <p:cNvSpPr/>
          <p:nvPr/>
        </p:nvSpPr>
        <p:spPr bwMode="auto">
          <a:xfrm>
            <a:off x="1188720" y="9874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100" b="1" strike="noStrike" spc="-1">
                <a:solidFill>
                  <a:srgbClr val="E0F2F1"/>
                </a:solidFill>
                <a:latin typeface="Calibri"/>
                <a:ea typeface="Calibri"/>
              </a:rPr>
              <a:t>Application Domain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646110" name="Text 4"/>
          <p:cNvSpPr/>
          <p:nvPr/>
        </p:nvSpPr>
        <p:spPr bwMode="auto">
          <a:xfrm>
            <a:off x="1188720" y="1243440"/>
            <a:ext cx="7589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Digitizing patient health information in a hospital — replacing paper records with a centralized MySQL database serving doctors, nurses, pharmacists, lab technicians, and administrators.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9177925" name="Shape 5"/>
          <p:cNvSpPr/>
          <p:nvPr/>
        </p:nvSpPr>
        <p:spPr bwMode="auto">
          <a:xfrm>
            <a:off x="457200" y="1828800"/>
            <a:ext cx="4068720" cy="306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639305" name="Shape 6"/>
          <p:cNvSpPr/>
          <p:nvPr/>
        </p:nvSpPr>
        <p:spPr bwMode="auto">
          <a:xfrm>
            <a:off x="457200" y="1828800"/>
            <a:ext cx="4068720" cy="4201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00245865" name="Image 1" descr="preencoded.png"/>
          <p:cNvPicPr/>
          <p:nvPr/>
        </p:nvPicPr>
        <p:blipFill rotWithShape="1">
          <a:blip r:embed="rId4"/>
          <a:stretch/>
        </p:blipFill>
        <p:spPr bwMode="auto">
          <a:xfrm>
            <a:off x="548640" y="188352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282453373" name="Text 7"/>
          <p:cNvSpPr/>
          <p:nvPr/>
        </p:nvSpPr>
        <p:spPr bwMode="auto">
          <a:xfrm>
            <a:off x="914400" y="1892880"/>
            <a:ext cx="34743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strike="noStrike" spc="97">
                <a:solidFill>
                  <a:srgbClr val="FFFFFF"/>
                </a:solidFill>
                <a:latin typeface="Calibri"/>
                <a:ea typeface="Calibri"/>
              </a:rPr>
              <a:t>BENEFITS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2450570" name="Text 8"/>
          <p:cNvSpPr/>
          <p:nvPr/>
        </p:nvSpPr>
        <p:spPr bwMode="auto">
          <a:xfrm>
            <a:off x="548640" y="2331720"/>
            <a:ext cx="3840120" cy="24685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Eliminates paper storage and retrieval costs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Faster patient processing &amp; reduced wait times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Reduces medication errors via digital Rx tracking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Improves care quality — instant patient history access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Enhanced data security vs physical files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693667" name="Shape 9"/>
          <p:cNvSpPr/>
          <p:nvPr/>
        </p:nvSpPr>
        <p:spPr bwMode="auto">
          <a:xfrm>
            <a:off x="4709160" y="1828800"/>
            <a:ext cx="4068720" cy="306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207321" name="Shape 10"/>
          <p:cNvSpPr/>
          <p:nvPr/>
        </p:nvSpPr>
        <p:spPr bwMode="auto">
          <a:xfrm>
            <a:off x="4709160" y="1828800"/>
            <a:ext cx="4068720" cy="4201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98849840" name="Image 2" descr="preencoded.png"/>
          <p:cNvPicPr/>
          <p:nvPr/>
        </p:nvPicPr>
        <p:blipFill rotWithShape="1">
          <a:blip r:embed="rId5"/>
          <a:stretch/>
        </p:blipFill>
        <p:spPr bwMode="auto">
          <a:xfrm>
            <a:off x="4800600" y="188352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852385677" name="Text 11"/>
          <p:cNvSpPr/>
          <p:nvPr/>
        </p:nvSpPr>
        <p:spPr bwMode="auto">
          <a:xfrm>
            <a:off x="5193720" y="1892880"/>
            <a:ext cx="347436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strike="noStrike" spc="97">
                <a:solidFill>
                  <a:srgbClr val="FFFFFF"/>
                </a:solidFill>
                <a:latin typeface="Calibri"/>
                <a:ea typeface="Calibri"/>
              </a:rPr>
              <a:t>COSTS &amp; RISKS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6325064" name="Text 12"/>
          <p:cNvSpPr/>
          <p:nvPr/>
        </p:nvSpPr>
        <p:spPr bwMode="auto">
          <a:xfrm>
            <a:off x="4800600" y="2331720"/>
            <a:ext cx="3840120" cy="24685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Server hardware: $3,000 – $8,000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Software &amp; licenses: $500 – $2,000/yr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Development: $5,000 – $15,000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Staff training: $1,000 – $3,000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21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328976" name="Text 0"/>
          <p:cNvSpPr/>
          <p:nvPr/>
        </p:nvSpPr>
        <p:spPr bwMode="auto">
          <a:xfrm>
            <a:off x="457200" y="255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strike="noStrike" spc="-1">
                <a:solidFill>
                  <a:srgbClr val="FFFFFF"/>
                </a:solidFill>
                <a:latin typeface="Georgia"/>
                <a:ea typeface="Georgia"/>
              </a:rPr>
              <a:t>02  User Groups &amp; Roles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0265684" name="Shape 1"/>
          <p:cNvSpPr/>
          <p:nvPr/>
        </p:nvSpPr>
        <p:spPr bwMode="auto">
          <a:xfrm>
            <a:off x="457200" y="795600"/>
            <a:ext cx="1096920" cy="543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4244478" name="Shape 2"/>
          <p:cNvSpPr/>
          <p:nvPr/>
        </p:nvSpPr>
        <p:spPr bwMode="auto">
          <a:xfrm>
            <a:off x="365760" y="1005840"/>
            <a:ext cx="2742840" cy="1691280"/>
          </a:xfrm>
          <a:prstGeom prst="rect">
            <a:avLst/>
          </a:prstGeom>
          <a:solidFill>
            <a:srgbClr val="122333"/>
          </a:solidFill>
          <a:ln w="12700">
            <a:solidFill>
              <a:srgbClr val="1E3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3724764" name="Shape 3"/>
          <p:cNvSpPr/>
          <p:nvPr/>
        </p:nvSpPr>
        <p:spPr bwMode="auto">
          <a:xfrm>
            <a:off x="365760" y="1005840"/>
            <a:ext cx="2742840" cy="637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935744" name="Shape 4"/>
          <p:cNvSpPr/>
          <p:nvPr/>
        </p:nvSpPr>
        <p:spPr bwMode="auto">
          <a:xfrm>
            <a:off x="502920" y="1188720"/>
            <a:ext cx="548280" cy="5482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9119744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530280" y="12070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012274834" name="Text 5"/>
          <p:cNvSpPr/>
          <p:nvPr/>
        </p:nvSpPr>
        <p:spPr bwMode="auto">
          <a:xfrm>
            <a:off x="1143000" y="11887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Doctors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299293" name="Text 6"/>
          <p:cNvSpPr/>
          <p:nvPr/>
        </p:nvSpPr>
        <p:spPr bwMode="auto">
          <a:xfrm>
            <a:off x="502920" y="1810440"/>
            <a:ext cx="2514240" cy="7768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A0C4BF"/>
                </a:solidFill>
                <a:latin typeface="Calibri"/>
                <a:ea typeface="Calibri"/>
              </a:rPr>
              <a:t>Record diagnoses, write prescriptions, order lab tests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5576083" name="Shape 7"/>
          <p:cNvSpPr/>
          <p:nvPr/>
        </p:nvSpPr>
        <p:spPr bwMode="auto">
          <a:xfrm>
            <a:off x="3291840" y="1005840"/>
            <a:ext cx="2742840" cy="1691280"/>
          </a:xfrm>
          <a:prstGeom prst="rect">
            <a:avLst/>
          </a:prstGeom>
          <a:solidFill>
            <a:srgbClr val="122333"/>
          </a:solidFill>
          <a:ln w="12700">
            <a:solidFill>
              <a:srgbClr val="1E3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1174352" name="Shape 8"/>
          <p:cNvSpPr/>
          <p:nvPr/>
        </p:nvSpPr>
        <p:spPr bwMode="auto">
          <a:xfrm>
            <a:off x="3291840" y="1005840"/>
            <a:ext cx="2742840" cy="637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189170" name="Shape 9"/>
          <p:cNvSpPr/>
          <p:nvPr/>
        </p:nvSpPr>
        <p:spPr bwMode="auto">
          <a:xfrm>
            <a:off x="3429000" y="1188720"/>
            <a:ext cx="548280" cy="5482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56363201" name="Image 1" descr="preencoded.png"/>
          <p:cNvPicPr/>
          <p:nvPr/>
        </p:nvPicPr>
        <p:blipFill rotWithShape="1">
          <a:blip r:embed="rId4"/>
          <a:stretch/>
        </p:blipFill>
        <p:spPr bwMode="auto">
          <a:xfrm>
            <a:off x="3456360" y="12070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453052707" name="Text 10"/>
          <p:cNvSpPr/>
          <p:nvPr/>
        </p:nvSpPr>
        <p:spPr bwMode="auto">
          <a:xfrm>
            <a:off x="4069080" y="11887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Nurses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035763" name="Text 11"/>
          <p:cNvSpPr/>
          <p:nvPr/>
        </p:nvSpPr>
        <p:spPr bwMode="auto">
          <a:xfrm>
            <a:off x="3429000" y="1810440"/>
            <a:ext cx="2514240" cy="7768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A0C4BF"/>
                </a:solidFill>
                <a:latin typeface="Calibri"/>
                <a:ea typeface="Calibri"/>
              </a:rPr>
              <a:t>Update patient vitals, manage ward admissions &amp; discharges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8915586" name="Shape 12"/>
          <p:cNvSpPr/>
          <p:nvPr/>
        </p:nvSpPr>
        <p:spPr bwMode="auto">
          <a:xfrm>
            <a:off x="6217920" y="1005840"/>
            <a:ext cx="2742840" cy="1691280"/>
          </a:xfrm>
          <a:prstGeom prst="rect">
            <a:avLst/>
          </a:prstGeom>
          <a:solidFill>
            <a:srgbClr val="122333"/>
          </a:solidFill>
          <a:ln w="12700">
            <a:solidFill>
              <a:srgbClr val="1E3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97767" name="Shape 13"/>
          <p:cNvSpPr/>
          <p:nvPr/>
        </p:nvSpPr>
        <p:spPr bwMode="auto">
          <a:xfrm>
            <a:off x="6217920" y="1005840"/>
            <a:ext cx="2742840" cy="637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6029349" name="Shape 14"/>
          <p:cNvSpPr/>
          <p:nvPr/>
        </p:nvSpPr>
        <p:spPr bwMode="auto">
          <a:xfrm>
            <a:off x="6355080" y="1188720"/>
            <a:ext cx="548280" cy="5482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33503694" name="Image 2" descr="preencoded.png"/>
          <p:cNvPicPr/>
          <p:nvPr/>
        </p:nvPicPr>
        <p:blipFill rotWithShape="1">
          <a:blip r:embed="rId5"/>
          <a:stretch/>
        </p:blipFill>
        <p:spPr bwMode="auto">
          <a:xfrm>
            <a:off x="6382440" y="120708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616150581" name="Text 15"/>
          <p:cNvSpPr/>
          <p:nvPr/>
        </p:nvSpPr>
        <p:spPr bwMode="auto">
          <a:xfrm>
            <a:off x="6995160" y="11887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Lab Technicians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5905646" name="Text 16"/>
          <p:cNvSpPr/>
          <p:nvPr/>
        </p:nvSpPr>
        <p:spPr bwMode="auto">
          <a:xfrm>
            <a:off x="6355080" y="1810440"/>
            <a:ext cx="2514240" cy="7768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A0C4BF"/>
                </a:solidFill>
                <a:latin typeface="Calibri"/>
                <a:ea typeface="Calibri"/>
              </a:rPr>
              <a:t>Enter and retrieve lab test results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364597" name="Shape 17"/>
          <p:cNvSpPr/>
          <p:nvPr/>
        </p:nvSpPr>
        <p:spPr bwMode="auto">
          <a:xfrm>
            <a:off x="365760" y="2926080"/>
            <a:ext cx="2742840" cy="1691280"/>
          </a:xfrm>
          <a:prstGeom prst="rect">
            <a:avLst/>
          </a:prstGeom>
          <a:solidFill>
            <a:srgbClr val="122333"/>
          </a:solidFill>
          <a:ln w="12700">
            <a:solidFill>
              <a:srgbClr val="1E3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7128281" name="Shape 18"/>
          <p:cNvSpPr/>
          <p:nvPr/>
        </p:nvSpPr>
        <p:spPr bwMode="auto">
          <a:xfrm>
            <a:off x="365760" y="2926080"/>
            <a:ext cx="2742840" cy="637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3281290" name="Shape 19"/>
          <p:cNvSpPr/>
          <p:nvPr/>
        </p:nvSpPr>
        <p:spPr bwMode="auto">
          <a:xfrm>
            <a:off x="502920" y="3108960"/>
            <a:ext cx="548280" cy="5482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6700431" name="Image 3" descr="preencoded.png"/>
          <p:cNvPicPr/>
          <p:nvPr/>
        </p:nvPicPr>
        <p:blipFill rotWithShape="1">
          <a:blip r:embed="rId6"/>
          <a:stretch/>
        </p:blipFill>
        <p:spPr bwMode="auto">
          <a:xfrm>
            <a:off x="530280" y="312732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641021018" name="Text 20"/>
          <p:cNvSpPr/>
          <p:nvPr/>
        </p:nvSpPr>
        <p:spPr bwMode="auto">
          <a:xfrm>
            <a:off x="1143000" y="31089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Pharmacists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228225" name="Text 21"/>
          <p:cNvSpPr/>
          <p:nvPr/>
        </p:nvSpPr>
        <p:spPr bwMode="auto">
          <a:xfrm>
            <a:off x="502920" y="3730680"/>
            <a:ext cx="2514240" cy="7768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A0C4BF"/>
                </a:solidFill>
                <a:latin typeface="Calibri"/>
                <a:ea typeface="Calibri"/>
              </a:rPr>
              <a:t>View and dispense patient prescriptions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15802" name="Shape 22"/>
          <p:cNvSpPr/>
          <p:nvPr/>
        </p:nvSpPr>
        <p:spPr bwMode="auto">
          <a:xfrm>
            <a:off x="3291840" y="2926080"/>
            <a:ext cx="2742840" cy="1691280"/>
          </a:xfrm>
          <a:prstGeom prst="rect">
            <a:avLst/>
          </a:prstGeom>
          <a:solidFill>
            <a:srgbClr val="122333"/>
          </a:solidFill>
          <a:ln w="12700">
            <a:solidFill>
              <a:srgbClr val="1E3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716639" name="Shape 23"/>
          <p:cNvSpPr/>
          <p:nvPr/>
        </p:nvSpPr>
        <p:spPr bwMode="auto">
          <a:xfrm>
            <a:off x="3291840" y="2926080"/>
            <a:ext cx="2742840" cy="637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589940" name="Shape 24"/>
          <p:cNvSpPr/>
          <p:nvPr/>
        </p:nvSpPr>
        <p:spPr bwMode="auto">
          <a:xfrm>
            <a:off x="3429000" y="3108960"/>
            <a:ext cx="548280" cy="5482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1335425" name="Image 4" descr="preencoded.png"/>
          <p:cNvPicPr/>
          <p:nvPr/>
        </p:nvPicPr>
        <p:blipFill rotWithShape="1">
          <a:blip r:embed="rId7"/>
          <a:stretch/>
        </p:blipFill>
        <p:spPr bwMode="auto">
          <a:xfrm>
            <a:off x="3456360" y="312732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608773462" name="Text 25"/>
          <p:cNvSpPr/>
          <p:nvPr/>
        </p:nvSpPr>
        <p:spPr bwMode="auto">
          <a:xfrm>
            <a:off x="4069080" y="31089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Receptionists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410993" name="Text 26"/>
          <p:cNvSpPr/>
          <p:nvPr/>
        </p:nvSpPr>
        <p:spPr bwMode="auto">
          <a:xfrm>
            <a:off x="3429000" y="3730680"/>
            <a:ext cx="2514240" cy="7768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A0C4BF"/>
                </a:solidFill>
                <a:latin typeface="Calibri"/>
                <a:ea typeface="Calibri"/>
              </a:rPr>
              <a:t>Register patients, schedule appointments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513230" name="Shape 27"/>
          <p:cNvSpPr/>
          <p:nvPr/>
        </p:nvSpPr>
        <p:spPr bwMode="auto">
          <a:xfrm>
            <a:off x="6217920" y="2926080"/>
            <a:ext cx="2742840" cy="1691280"/>
          </a:xfrm>
          <a:prstGeom prst="rect">
            <a:avLst/>
          </a:prstGeom>
          <a:solidFill>
            <a:srgbClr val="122333"/>
          </a:solidFill>
          <a:ln w="12700">
            <a:solidFill>
              <a:srgbClr val="1E3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1351508" name="Shape 28"/>
          <p:cNvSpPr/>
          <p:nvPr/>
        </p:nvSpPr>
        <p:spPr bwMode="auto">
          <a:xfrm>
            <a:off x="6217920" y="2926080"/>
            <a:ext cx="2742840" cy="637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053142" name="Shape 29"/>
          <p:cNvSpPr/>
          <p:nvPr/>
        </p:nvSpPr>
        <p:spPr bwMode="auto">
          <a:xfrm>
            <a:off x="6355080" y="3108960"/>
            <a:ext cx="548280" cy="5482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3375259" name="Image 5" descr="preencoded.png"/>
          <p:cNvPicPr/>
          <p:nvPr/>
        </p:nvPicPr>
        <p:blipFill rotWithShape="1">
          <a:blip r:embed="rId8"/>
          <a:stretch/>
        </p:blipFill>
        <p:spPr bwMode="auto">
          <a:xfrm>
            <a:off x="6382440" y="312732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2042656159" name="Text 30"/>
          <p:cNvSpPr/>
          <p:nvPr/>
        </p:nvSpPr>
        <p:spPr bwMode="auto">
          <a:xfrm>
            <a:off x="6995160" y="310896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Administrators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4795060" name="Text 31"/>
          <p:cNvSpPr/>
          <p:nvPr/>
        </p:nvSpPr>
        <p:spPr bwMode="auto">
          <a:xfrm>
            <a:off x="6355080" y="3730680"/>
            <a:ext cx="2514240" cy="7768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A0C4BF"/>
                </a:solidFill>
                <a:latin typeface="Calibri"/>
                <a:ea typeface="Calibri"/>
              </a:rPr>
              <a:t>Generate reports and monitor hospital performance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A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48884" name="Text 0"/>
          <p:cNvSpPr/>
          <p:nvPr/>
        </p:nvSpPr>
        <p:spPr bwMode="auto">
          <a:xfrm>
            <a:off x="457200" y="228600"/>
            <a:ext cx="8686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400" b="1" strike="noStrike" spc="-1">
                <a:solidFill>
                  <a:srgbClr val="0D2137"/>
                </a:solidFill>
                <a:latin typeface="Georgia"/>
                <a:ea typeface="Georgia"/>
              </a:rPr>
              <a:t>03  Database Design — Entities &amp; Relationships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648992" name="Shape 1"/>
          <p:cNvSpPr/>
          <p:nvPr/>
        </p:nvSpPr>
        <p:spPr bwMode="auto">
          <a:xfrm>
            <a:off x="457200" y="768240"/>
            <a:ext cx="1279800" cy="543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637021468" name="Table 0"/>
          <p:cNvGraphicFramePr>
            <a:graphicFrameLocks xmlns:a="http://schemas.openxmlformats.org/drawingml/2006/main"/>
          </p:cNvGraphicFramePr>
          <p:nvPr/>
        </p:nvGraphicFramePr>
        <p:xfrm rot="0">
          <a:off x="457200" y="914400"/>
          <a:ext cx="8503560" cy="4023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103120"/>
                <a:gridCol w="6400800"/>
              </a:tblGrid>
              <a:tr h="402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Entity / Table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Key Attributes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1" strike="noStrike" spc="-1">
                          <a:solidFill>
                            <a:srgbClr val="0D9488"/>
                          </a:solidFill>
                          <a:latin typeface="Consolas"/>
                          <a:ea typeface="Consolas"/>
                        </a:rPr>
                        <a:t>patients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patient_id (PK), first_name, last_name, dob, gender, blood_type, phone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1" strike="noStrike" spc="-1">
                          <a:solidFill>
                            <a:srgbClr val="0D9488"/>
                          </a:solidFill>
                          <a:latin typeface="Consolas"/>
                          <a:ea typeface="Consolas"/>
                        </a:rPr>
                        <a:t>doctors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doctor_id (PK), first_name, last_name, specialization, department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1" strike="noStrike" spc="-1">
                          <a:solidFill>
                            <a:srgbClr val="0D9488"/>
                          </a:solidFill>
                          <a:latin typeface="Consolas"/>
                          <a:ea typeface="Consolas"/>
                        </a:rPr>
                        <a:t>appointments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appointment_id (PK), patient_id (FK), doctor_id (FK), appointment_date, status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1" strike="noStrike" spc="-1">
                          <a:solidFill>
                            <a:srgbClr val="0D9488"/>
                          </a:solidFill>
                          <a:latin typeface="Consolas"/>
                          <a:ea typeface="Consolas"/>
                        </a:rPr>
                        <a:t>medical_records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record_id (PK), patient_id (FK), doctor_id (FK), diagnosis, treatment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1" strike="noStrike" spc="-1">
                          <a:solidFill>
                            <a:srgbClr val="0D9488"/>
                          </a:solidFill>
                          <a:latin typeface="Consolas"/>
                          <a:ea typeface="Consolas"/>
                        </a:rPr>
                        <a:t>prescriptions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prescription_id (PK), record_id (FK), medication, dosage, duration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1" strike="noStrike" spc="-1">
                          <a:solidFill>
                            <a:srgbClr val="0D9488"/>
                          </a:solidFill>
                          <a:latin typeface="Consolas"/>
                          <a:ea typeface="Consolas"/>
                        </a:rPr>
                        <a:t>lab_tests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test_id (PK), patient_id (FK), doctor_id (FK), test_name, result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1" strike="noStrike" spc="-1">
                          <a:solidFill>
                            <a:srgbClr val="0D9488"/>
                          </a:solidFill>
                          <a:latin typeface="Consolas"/>
                          <a:ea typeface="Consolas"/>
                        </a:rPr>
                        <a:t>wards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ward_id (PK), ward_name, capacity, floor_number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1" strike="noStrike" spc="-1">
                          <a:solidFill>
                            <a:srgbClr val="0D9488"/>
                          </a:solidFill>
                          <a:latin typeface="Consolas"/>
                          <a:ea typeface="Consolas"/>
                        </a:rPr>
                        <a:t>admissions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admission_id (PK), patient_id (FK), ward_id (FK), admit_date, discharge_date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1" strike="noStrike" spc="-1">
                          <a:solidFill>
                            <a:srgbClr val="0D9488"/>
                          </a:solidFill>
                          <a:latin typeface="Consolas"/>
                          <a:ea typeface="Consolas"/>
                        </a:rPr>
                        <a:t>nurses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nurse_id (PK), first_name, last_name, department, ward_id (FK)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anchor="t">
                    <a:lnL w="6480" algn="ctr">
                      <a:solidFill>
                        <a:srgbClr val="D1D5DB"/>
                      </a:solidFill>
                    </a:lnL>
                    <a:lnR w="6480" algn="ctr">
                      <a:solidFill>
                        <a:srgbClr val="D1D5DB"/>
                      </a:solidFill>
                    </a:lnR>
                    <a:lnT w="6480" algn="ctr">
                      <a:solidFill>
                        <a:srgbClr val="D1D5DB"/>
                      </a:solidFill>
                    </a:lnT>
                    <a:lnB w="6480" algn="ctr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A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469025" name="Text 0"/>
          <p:cNvSpPr/>
          <p:nvPr/>
        </p:nvSpPr>
        <p:spPr bwMode="auto">
          <a:xfrm>
            <a:off x="457200" y="2286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400" b="1" strike="noStrike" spc="-1">
                <a:solidFill>
                  <a:srgbClr val="0D2137"/>
                </a:solidFill>
                <a:latin typeface="Georgia"/>
                <a:ea typeface="Georgia"/>
              </a:rPr>
              <a:t>03  Entity Relationship Diagram (ERD)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805124" name="Text 5"/>
          <p:cNvSpPr/>
          <p:nvPr/>
        </p:nvSpPr>
        <p:spPr bwMode="auto">
          <a:xfrm>
            <a:off x="6400800" y="868680"/>
            <a:ext cx="21942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1" strike="noStrike" spc="-1">
                <a:solidFill>
                  <a:srgbClr val="FFFFFF"/>
                </a:solidFill>
                <a:latin typeface="Consolas"/>
                <a:ea typeface="Consolas"/>
              </a:rPr>
              <a:t>DOCTORS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106820" name="Text 11"/>
          <p:cNvSpPr/>
          <p:nvPr/>
        </p:nvSpPr>
        <p:spPr bwMode="auto">
          <a:xfrm>
            <a:off x="7132320" y="352044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1" strike="noStrike" spc="-1">
                <a:solidFill>
                  <a:srgbClr val="FFFFFF"/>
                </a:solidFill>
                <a:latin typeface="Consolas"/>
                <a:ea typeface="Consolas"/>
              </a:rPr>
              <a:t>PRESCRIPTIONS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6103725" name="Text 13"/>
          <p:cNvSpPr/>
          <p:nvPr/>
        </p:nvSpPr>
        <p:spPr bwMode="auto">
          <a:xfrm>
            <a:off x="7132320" y="182880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1" strike="noStrike" spc="-1">
                <a:solidFill>
                  <a:srgbClr val="FFFFFF"/>
                </a:solidFill>
                <a:latin typeface="Consolas"/>
                <a:ea typeface="Consolas"/>
              </a:rPr>
              <a:t>LAB_TESTS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065715" name="Text 29"/>
          <p:cNvSpPr/>
          <p:nvPr/>
        </p:nvSpPr>
        <p:spPr bwMode="auto">
          <a:xfrm>
            <a:off x="658440" y="45720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8633489" name="" descr=""/>
          <p:cNvPicPr/>
          <p:nvPr/>
        </p:nvPicPr>
        <p:blipFill rotWithShape="1">
          <a:blip r:embed="rId3"/>
          <a:stretch/>
        </p:blipFill>
        <p:spPr bwMode="auto">
          <a:xfrm>
            <a:off x="457200" y="731160"/>
            <a:ext cx="8458200" cy="4298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21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790095" name="Text 0"/>
          <p:cNvSpPr/>
          <p:nvPr/>
        </p:nvSpPr>
        <p:spPr bwMode="auto">
          <a:xfrm>
            <a:off x="457200" y="2286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strike="noStrike" spc="-1">
                <a:solidFill>
                  <a:srgbClr val="FFFFFF"/>
                </a:solidFill>
                <a:latin typeface="Georgia"/>
                <a:ea typeface="Georgia"/>
              </a:rPr>
              <a:t>04  MySQL Implementation</a:t>
            </a:r>
            <a:endParaRPr lang="en-US" sz="2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3765009" name="Shape 1"/>
          <p:cNvSpPr/>
          <p:nvPr/>
        </p:nvSpPr>
        <p:spPr bwMode="auto">
          <a:xfrm>
            <a:off x="457200" y="768240"/>
            <a:ext cx="1096920" cy="543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318512" name="Shape 2"/>
          <p:cNvSpPr/>
          <p:nvPr/>
        </p:nvSpPr>
        <p:spPr bwMode="auto">
          <a:xfrm>
            <a:off x="457200" y="960120"/>
            <a:ext cx="5028840" cy="3931560"/>
          </a:xfrm>
          <a:prstGeom prst="rect">
            <a:avLst/>
          </a:prstGeom>
          <a:solidFill>
            <a:srgbClr val="0A1929"/>
          </a:solidFill>
          <a:ln w="12700">
            <a:solidFill>
              <a:srgbClr val="1E3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7095584" name="Text 3"/>
          <p:cNvSpPr/>
          <p:nvPr/>
        </p:nvSpPr>
        <p:spPr bwMode="auto">
          <a:xfrm>
            <a:off x="594360" y="105156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6B9FBF"/>
                </a:solidFill>
                <a:latin typeface="Consolas"/>
                <a:ea typeface="Consolas"/>
              </a:rPr>
              <a:t>-- Sample: CREATE TABLE patients</a:t>
            </a:r>
            <a:endParaRPr lang="en-US" sz="9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0191467" name="Text 4"/>
          <p:cNvSpPr/>
          <p:nvPr/>
        </p:nvSpPr>
        <p:spPr bwMode="auto">
          <a:xfrm>
            <a:off x="594360" y="1371600"/>
            <a:ext cx="4754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0B7A75"/>
                </a:solidFill>
                <a:latin typeface="Consolas"/>
                <a:ea typeface="Consolas"/>
              </a:rPr>
              <a:t>CREATE TABLE </a:t>
            </a:r>
            <a:r>
              <a:rPr lang="en-US" sz="1050" b="0" strike="noStrike" spc="-1">
                <a:solidFill>
                  <a:srgbClr val="F59E0B"/>
                </a:solidFill>
                <a:latin typeface="Consolas"/>
                <a:ea typeface="Consolas"/>
              </a:rPr>
              <a:t>patients</a:t>
            </a: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 (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patient_id  INT AUTO_INCREMENT 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0B7A75"/>
                </a:solidFill>
                <a:latin typeface="Consolas"/>
                <a:ea typeface="Consolas"/>
              </a:rPr>
              <a:t>PRIMARY KEY</a:t>
            </a: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,</a:t>
            </a:r>
            <a:endParaRPr lang="en-US" sz="1050" b="0" strike="noStrike" spc="0">
              <a:solidFill>
                <a:srgbClr val="FFFFFF"/>
              </a:solidFill>
              <a:latin typeface="Consolas"/>
              <a:ea typeface="Consola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050" b="0" strike="noStrike" spc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first_name  VARCHAR(50) NOT NULL,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last_name   VARCHAR(50) NOT NULL,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dob         DATE NOT NULL,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gender      ENUM('Male','Female','Other'),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blood_type  ENUM('A+','A-','B+',</a:t>
            </a:r>
            <a:r>
              <a:rPr lang="en-US" sz="1050" b="0" strike="noStrike" spc="0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lang="en-US" sz="1050" b="0" strike="noStrike" spc="0">
                <a:solidFill>
                  <a:srgbClr val="FFFFFF"/>
                </a:solidFill>
                <a:latin typeface="Consolas"/>
                <a:ea typeface="Consolas"/>
              </a:rPr>
              <a:t>'B-','AB+','AB-',</a:t>
            </a:r>
            <a:r>
              <a:rPr lang="en-US" sz="1050" b="0" strike="noStrike" spc="0">
                <a:solidFill>
                  <a:srgbClr val="FFFFFF"/>
                </a:solidFill>
                <a:latin typeface="Consolas"/>
                <a:ea typeface="Consolas"/>
              </a:rPr>
              <a:t>'O+','O-'),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phone       VARCHAR(15),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  </a:t>
            </a: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address     VARCHAR(255)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FFFFFF"/>
                </a:solidFill>
                <a:latin typeface="Consolas"/>
                <a:ea typeface="Consolas"/>
              </a:rPr>
              <a:t>);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347226" name="Shape 5"/>
          <p:cNvSpPr/>
          <p:nvPr/>
        </p:nvSpPr>
        <p:spPr bwMode="auto">
          <a:xfrm>
            <a:off x="5760720" y="960120"/>
            <a:ext cx="3017160" cy="749520"/>
          </a:xfrm>
          <a:prstGeom prst="rect">
            <a:avLst/>
          </a:prstGeom>
          <a:solidFill>
            <a:srgbClr val="122333"/>
          </a:solidFill>
          <a:ln w="12700">
            <a:solidFill>
              <a:srgbClr val="1E3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1896223" name="Shape 6"/>
          <p:cNvSpPr/>
          <p:nvPr/>
        </p:nvSpPr>
        <p:spPr bwMode="auto">
          <a:xfrm>
            <a:off x="5760720" y="960120"/>
            <a:ext cx="72720" cy="749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251842" name="Text 7"/>
          <p:cNvSpPr/>
          <p:nvPr/>
        </p:nvSpPr>
        <p:spPr bwMode="auto">
          <a:xfrm>
            <a:off x="5943600" y="100584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800" b="1" strike="noStrike" spc="-1">
                <a:solidFill>
                  <a:srgbClr val="0B7A75"/>
                </a:solidFill>
                <a:latin typeface="Georgia"/>
                <a:ea typeface="Georgia"/>
              </a:rPr>
              <a:t>9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744953" name="Text 8"/>
          <p:cNvSpPr/>
          <p:nvPr/>
        </p:nvSpPr>
        <p:spPr bwMode="auto">
          <a:xfrm>
            <a:off x="6903720" y="11062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strike="noStrike" spc="-1">
                <a:solidFill>
                  <a:srgbClr val="A0C4BF"/>
                </a:solidFill>
                <a:latin typeface="Calibri"/>
                <a:ea typeface="Calibri"/>
              </a:rPr>
              <a:t>Tables Created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628515" name="Shape 9"/>
          <p:cNvSpPr/>
          <p:nvPr/>
        </p:nvSpPr>
        <p:spPr bwMode="auto">
          <a:xfrm>
            <a:off x="5760720" y="1856160"/>
            <a:ext cx="3017160" cy="749520"/>
          </a:xfrm>
          <a:prstGeom prst="rect">
            <a:avLst/>
          </a:prstGeom>
          <a:solidFill>
            <a:srgbClr val="122333"/>
          </a:solidFill>
          <a:ln w="12700">
            <a:solidFill>
              <a:srgbClr val="1E3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070456" name="Shape 10"/>
          <p:cNvSpPr/>
          <p:nvPr/>
        </p:nvSpPr>
        <p:spPr bwMode="auto">
          <a:xfrm>
            <a:off x="5760720" y="1856160"/>
            <a:ext cx="72720" cy="749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503413" name="Text 11"/>
          <p:cNvSpPr/>
          <p:nvPr/>
        </p:nvSpPr>
        <p:spPr bwMode="auto">
          <a:xfrm>
            <a:off x="5943600" y="190188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800" b="1" strike="noStrike" spc="-1">
                <a:solidFill>
                  <a:srgbClr val="0B7A75"/>
                </a:solidFill>
                <a:latin typeface="Georgia"/>
                <a:ea typeface="Georgia"/>
              </a:rPr>
              <a:t>10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026451" name="Text 12"/>
          <p:cNvSpPr/>
          <p:nvPr/>
        </p:nvSpPr>
        <p:spPr bwMode="auto">
          <a:xfrm>
            <a:off x="6903720" y="20026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strike="noStrike" spc="-1">
                <a:solidFill>
                  <a:srgbClr val="A0C4BF"/>
                </a:solidFill>
                <a:latin typeface="Calibri"/>
                <a:ea typeface="Calibri"/>
              </a:rPr>
              <a:t>Patients (sample)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058298" name="Shape 13"/>
          <p:cNvSpPr/>
          <p:nvPr/>
        </p:nvSpPr>
        <p:spPr bwMode="auto">
          <a:xfrm>
            <a:off x="5760720" y="2752200"/>
            <a:ext cx="3017160" cy="749520"/>
          </a:xfrm>
          <a:prstGeom prst="rect">
            <a:avLst/>
          </a:prstGeom>
          <a:solidFill>
            <a:srgbClr val="122333"/>
          </a:solidFill>
          <a:ln w="12700">
            <a:solidFill>
              <a:srgbClr val="1E3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7929308" name="Shape 14"/>
          <p:cNvSpPr/>
          <p:nvPr/>
        </p:nvSpPr>
        <p:spPr bwMode="auto">
          <a:xfrm>
            <a:off x="5760720" y="2752200"/>
            <a:ext cx="72720" cy="749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488785" name="Text 15"/>
          <p:cNvSpPr/>
          <p:nvPr/>
        </p:nvSpPr>
        <p:spPr bwMode="auto">
          <a:xfrm>
            <a:off x="5943600" y="27979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800" b="1" strike="noStrike" spc="-1">
                <a:solidFill>
                  <a:srgbClr val="0B7A75"/>
                </a:solidFill>
                <a:latin typeface="Georgia"/>
                <a:ea typeface="Georgia"/>
              </a:rPr>
              <a:t>5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6920907" name="Text 16"/>
          <p:cNvSpPr/>
          <p:nvPr/>
        </p:nvSpPr>
        <p:spPr bwMode="auto">
          <a:xfrm>
            <a:off x="6903720" y="289872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strike="noStrike" spc="-1">
                <a:solidFill>
                  <a:srgbClr val="A0C4BF"/>
                </a:solidFill>
                <a:latin typeface="Calibri"/>
                <a:ea typeface="Calibri"/>
              </a:rPr>
              <a:t>Doctors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6947440" name="Shape 17"/>
          <p:cNvSpPr/>
          <p:nvPr/>
        </p:nvSpPr>
        <p:spPr bwMode="auto">
          <a:xfrm>
            <a:off x="5760720" y="3648600"/>
            <a:ext cx="3017160" cy="749520"/>
          </a:xfrm>
          <a:prstGeom prst="rect">
            <a:avLst/>
          </a:prstGeom>
          <a:solidFill>
            <a:srgbClr val="122333"/>
          </a:solidFill>
          <a:ln w="12700">
            <a:solidFill>
              <a:srgbClr val="1E3A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2336150" name="Shape 18"/>
          <p:cNvSpPr/>
          <p:nvPr/>
        </p:nvSpPr>
        <p:spPr bwMode="auto">
          <a:xfrm>
            <a:off x="5760720" y="3648600"/>
            <a:ext cx="72720" cy="7495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278446" name="Text 19"/>
          <p:cNvSpPr/>
          <p:nvPr/>
        </p:nvSpPr>
        <p:spPr bwMode="auto">
          <a:xfrm>
            <a:off x="5943600" y="369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800" b="1" strike="noStrike" spc="-1">
                <a:solidFill>
                  <a:srgbClr val="0B7A75"/>
                </a:solidFill>
                <a:latin typeface="Georgia"/>
                <a:ea typeface="Georgia"/>
              </a:rPr>
              <a:t>10</a:t>
            </a:r>
            <a:endParaRPr lang="en-US" sz="2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8775391" name="Text 20"/>
          <p:cNvSpPr/>
          <p:nvPr/>
        </p:nvSpPr>
        <p:spPr bwMode="auto">
          <a:xfrm>
            <a:off x="6903720" y="379476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strike="noStrike" spc="-1">
                <a:solidFill>
                  <a:srgbClr val="A0C4BF"/>
                </a:solidFill>
                <a:latin typeface="Calibri"/>
                <a:ea typeface="Calibri"/>
              </a:rPr>
              <a:t>Sample Queries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A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92313" name="Text 0"/>
          <p:cNvSpPr/>
          <p:nvPr/>
        </p:nvSpPr>
        <p:spPr bwMode="auto">
          <a:xfrm>
            <a:off x="457200" y="2286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strike="noStrike" spc="-1">
                <a:solidFill>
                  <a:srgbClr val="0D2137"/>
                </a:solidFill>
                <a:latin typeface="Georgia"/>
                <a:ea typeface="Georgia"/>
              </a:rPr>
              <a:t>05  Sample Queries &amp; Results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886264" name="Shape 1"/>
          <p:cNvSpPr/>
          <p:nvPr/>
        </p:nvSpPr>
        <p:spPr bwMode="auto">
          <a:xfrm>
            <a:off x="457200" y="768240"/>
            <a:ext cx="1096920" cy="543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6647052" name="Shape 2"/>
          <p:cNvSpPr/>
          <p:nvPr/>
        </p:nvSpPr>
        <p:spPr bwMode="auto">
          <a:xfrm>
            <a:off x="365760" y="960120"/>
            <a:ext cx="4114440" cy="191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839983" name="Shape 3"/>
          <p:cNvSpPr/>
          <p:nvPr/>
        </p:nvSpPr>
        <p:spPr bwMode="auto">
          <a:xfrm>
            <a:off x="365760" y="960120"/>
            <a:ext cx="4114440" cy="347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8690773" name="Text 4"/>
          <p:cNvSpPr/>
          <p:nvPr/>
        </p:nvSpPr>
        <p:spPr bwMode="auto">
          <a:xfrm>
            <a:off x="475560" y="9968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  <a:ea typeface="Calibri"/>
              </a:rPr>
              <a:t>Q1  List all patients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16518" name="Shape 5"/>
          <p:cNvSpPr/>
          <p:nvPr/>
        </p:nvSpPr>
        <p:spPr bwMode="auto">
          <a:xfrm>
            <a:off x="365760" y="1307520"/>
            <a:ext cx="4114440" cy="118836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6001910" name="Text 6"/>
          <p:cNvSpPr/>
          <p:nvPr/>
        </p:nvSpPr>
        <p:spPr bwMode="auto">
          <a:xfrm>
            <a:off x="475560" y="1344240"/>
            <a:ext cx="393156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SELECT patient_id, CONTACT(first_name,' ',last_name)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FROM patients ORDER BY last_name;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273905" name="Shape 7"/>
          <p:cNvSpPr/>
          <p:nvPr/>
        </p:nvSpPr>
        <p:spPr bwMode="auto">
          <a:xfrm>
            <a:off x="365760" y="2496240"/>
            <a:ext cx="4114440" cy="38376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5937165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457200" y="256032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1293100483" name="Text 8"/>
          <p:cNvSpPr/>
          <p:nvPr/>
        </p:nvSpPr>
        <p:spPr bwMode="auto">
          <a:xfrm>
            <a:off x="749879" y="25419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1" strike="noStrike" spc="-1">
                <a:solidFill>
                  <a:srgbClr val="0B7A75"/>
                </a:solidFill>
                <a:latin typeface="Calibri"/>
                <a:ea typeface="Calibri"/>
              </a:rPr>
              <a:t>Use case: Basic retrieval for administration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69090" name="Shape 9"/>
          <p:cNvSpPr/>
          <p:nvPr/>
        </p:nvSpPr>
        <p:spPr bwMode="auto">
          <a:xfrm>
            <a:off x="4709160" y="960120"/>
            <a:ext cx="4114440" cy="191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1787813" name="Shape 10"/>
          <p:cNvSpPr/>
          <p:nvPr/>
        </p:nvSpPr>
        <p:spPr bwMode="auto">
          <a:xfrm>
            <a:off x="4709160" y="960120"/>
            <a:ext cx="4114440" cy="347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8736806" name="Text 11"/>
          <p:cNvSpPr/>
          <p:nvPr/>
        </p:nvSpPr>
        <p:spPr bwMode="auto">
          <a:xfrm>
            <a:off x="4818960" y="9968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  <a:ea typeface="Calibri"/>
              </a:rPr>
              <a:t>Q2  Doctor appointment load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2299690" name="Shape 12"/>
          <p:cNvSpPr/>
          <p:nvPr/>
        </p:nvSpPr>
        <p:spPr bwMode="auto">
          <a:xfrm>
            <a:off x="4709160" y="1307520"/>
            <a:ext cx="4114440" cy="118836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2204178" name="Text 13"/>
          <p:cNvSpPr/>
          <p:nvPr/>
        </p:nvSpPr>
        <p:spPr bwMode="auto">
          <a:xfrm>
            <a:off x="4818960" y="1344240"/>
            <a:ext cx="393156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SELECT d.last_name, COUNT(DISTINCT a.patient_id)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FROM doctors d JOIN appointments a USING(doctor_id)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GROUP BY d.doctor_id;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251530" name="Shape 14"/>
          <p:cNvSpPr/>
          <p:nvPr/>
        </p:nvSpPr>
        <p:spPr bwMode="auto">
          <a:xfrm>
            <a:off x="4709160" y="2496240"/>
            <a:ext cx="4114440" cy="38376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3582468" name="Image 1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4800600" y="256032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1562407943" name="Text 15"/>
          <p:cNvSpPr/>
          <p:nvPr/>
        </p:nvSpPr>
        <p:spPr bwMode="auto">
          <a:xfrm>
            <a:off x="5093280" y="25419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1" strike="noStrike" spc="-1">
                <a:solidFill>
                  <a:srgbClr val="0B7A75"/>
                </a:solidFill>
                <a:latin typeface="Calibri"/>
                <a:ea typeface="Calibri"/>
              </a:rPr>
              <a:t>Use case: Monitor staff workload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9732681" name="Shape 16"/>
          <p:cNvSpPr/>
          <p:nvPr/>
        </p:nvSpPr>
        <p:spPr bwMode="auto">
          <a:xfrm>
            <a:off x="365760" y="3017519"/>
            <a:ext cx="4114440" cy="191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984039" name="Shape 17"/>
          <p:cNvSpPr/>
          <p:nvPr/>
        </p:nvSpPr>
        <p:spPr bwMode="auto">
          <a:xfrm>
            <a:off x="365760" y="3017519"/>
            <a:ext cx="4114440" cy="347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5660132" name="Text 18"/>
          <p:cNvSpPr/>
          <p:nvPr/>
        </p:nvSpPr>
        <p:spPr bwMode="auto">
          <a:xfrm>
            <a:off x="475560" y="30542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  <a:ea typeface="Calibri"/>
              </a:rPr>
              <a:t>Q3  Patients with no lab tests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9436530" name="Shape 19"/>
          <p:cNvSpPr/>
          <p:nvPr/>
        </p:nvSpPr>
        <p:spPr bwMode="auto">
          <a:xfrm>
            <a:off x="365760" y="3364920"/>
            <a:ext cx="4114440" cy="118836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488128" name="Text 20"/>
          <p:cNvSpPr/>
          <p:nvPr/>
        </p:nvSpPr>
        <p:spPr bwMode="auto">
          <a:xfrm>
            <a:off x="475560" y="3401640"/>
            <a:ext cx="393156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SELECT patient_id FROM patients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WHERE patient_id NOT IN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  </a:t>
            </a: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(SELECT patient_id FROM lab_tests);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347009" name="Shape 21"/>
          <p:cNvSpPr/>
          <p:nvPr/>
        </p:nvSpPr>
        <p:spPr bwMode="auto">
          <a:xfrm>
            <a:off x="365760" y="4553640"/>
            <a:ext cx="4114440" cy="38376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794597" name="Image 2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457200" y="461772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1032952385" name="Shape 23"/>
          <p:cNvSpPr/>
          <p:nvPr/>
        </p:nvSpPr>
        <p:spPr bwMode="auto">
          <a:xfrm>
            <a:off x="4709160" y="3017519"/>
            <a:ext cx="4114440" cy="1919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737790" name="Shape 24"/>
          <p:cNvSpPr/>
          <p:nvPr/>
        </p:nvSpPr>
        <p:spPr bwMode="auto">
          <a:xfrm>
            <a:off x="4709160" y="3017519"/>
            <a:ext cx="4114440" cy="347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360249" name="Text 25"/>
          <p:cNvSpPr/>
          <p:nvPr/>
        </p:nvSpPr>
        <p:spPr bwMode="auto">
          <a:xfrm>
            <a:off x="4818960" y="30542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  <a:ea typeface="Calibri"/>
              </a:rPr>
              <a:t>Q4  Currently admitted patients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316529" name="Shape 26"/>
          <p:cNvSpPr/>
          <p:nvPr/>
        </p:nvSpPr>
        <p:spPr bwMode="auto">
          <a:xfrm>
            <a:off x="4709160" y="3364920"/>
            <a:ext cx="4114440" cy="1188360"/>
          </a:xfrm>
          <a:prstGeom prst="rect">
            <a:avLst/>
          </a:prstGeom>
          <a:solidFill>
            <a:srgbClr val="0A1929"/>
          </a:solidFill>
          <a:ln w="12700">
            <a:solidFill>
              <a:srgbClr val="0A19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7835262" name="Text 27"/>
          <p:cNvSpPr/>
          <p:nvPr/>
        </p:nvSpPr>
        <p:spPr bwMode="auto">
          <a:xfrm>
            <a:off x="4818960" y="3401640"/>
            <a:ext cx="3931560" cy="111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SELECT p.first_name, w.ward_name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FROM admissions a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JOIN patients p USING(patient_id)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JOIN wards w USING(ward_id)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950" b="0" strike="noStrike" spc="-1">
                <a:solidFill>
                  <a:srgbClr val="A0D4C0"/>
                </a:solidFill>
                <a:latin typeface="Consolas"/>
                <a:ea typeface="Consolas"/>
              </a:rPr>
              <a:t>WHERE discharge_date IS NULL;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6020370" name="Shape 28"/>
          <p:cNvSpPr/>
          <p:nvPr/>
        </p:nvSpPr>
        <p:spPr bwMode="auto">
          <a:xfrm>
            <a:off x="4709160" y="4553640"/>
            <a:ext cx="4114440" cy="38376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3816014" name="Image 3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4800600" y="4617720"/>
            <a:ext cx="228240" cy="228240"/>
          </a:xfrm>
          <a:prstGeom prst="rect">
            <a:avLst/>
          </a:prstGeom>
          <a:ln w="0">
            <a:noFill/>
          </a:ln>
        </p:spPr>
      </p:pic>
      <p:sp>
        <p:nvSpPr>
          <p:cNvPr id="579512565" name="Text 29"/>
          <p:cNvSpPr/>
          <p:nvPr/>
        </p:nvSpPr>
        <p:spPr bwMode="auto">
          <a:xfrm>
            <a:off x="5093280" y="45993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1" strike="noStrike" spc="-1">
                <a:solidFill>
                  <a:srgbClr val="0B7A75"/>
                </a:solidFill>
                <a:latin typeface="Calibri"/>
                <a:ea typeface="Calibri"/>
              </a:rPr>
              <a:t>Use case: Nurse ward management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A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30758" name="Text 0"/>
          <p:cNvSpPr/>
          <p:nvPr/>
        </p:nvSpPr>
        <p:spPr bwMode="auto">
          <a:xfrm>
            <a:off x="457200" y="2286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strike="noStrike" spc="-1">
                <a:solidFill>
                  <a:srgbClr val="0D2137"/>
                </a:solidFill>
                <a:latin typeface="Georgia"/>
                <a:ea typeface="Georgia"/>
              </a:rPr>
              <a:t>06  Real-World Reference System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252429" name="Shape 1"/>
          <p:cNvSpPr/>
          <p:nvPr/>
        </p:nvSpPr>
        <p:spPr bwMode="auto">
          <a:xfrm>
            <a:off x="457200" y="768240"/>
            <a:ext cx="1096920" cy="543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970978" name="Shape 2"/>
          <p:cNvSpPr/>
          <p:nvPr/>
        </p:nvSpPr>
        <p:spPr bwMode="auto">
          <a:xfrm>
            <a:off x="457200" y="960120"/>
            <a:ext cx="8503560" cy="6580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63541099" name="Image 0" descr="preencoded.png"/>
          <p:cNvPicPr/>
          <p:nvPr/>
        </p:nvPicPr>
        <p:blipFill rotWithShape="1">
          <a:blip r:embed="rId3"/>
          <a:stretch/>
        </p:blipFill>
        <p:spPr bwMode="auto">
          <a:xfrm>
            <a:off x="548640" y="100584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43447301" name="Text 3"/>
          <p:cNvSpPr/>
          <p:nvPr/>
        </p:nvSpPr>
        <p:spPr bwMode="auto">
          <a:xfrm>
            <a:off x="1143000" y="100584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600" b="1" strike="noStrike" spc="-1">
                <a:solidFill>
                  <a:srgbClr val="FFFFFF"/>
                </a:solidFill>
                <a:latin typeface="Georgia"/>
                <a:ea typeface="Georgia"/>
              </a:rPr>
              <a:t>OpenMRS — Open Medical Record System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9486174" name="Text 4"/>
          <p:cNvSpPr/>
          <p:nvPr/>
        </p:nvSpPr>
        <p:spPr bwMode="auto">
          <a:xfrm>
            <a:off x="1143000" y="1325880"/>
            <a:ext cx="758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00" b="0" strike="noStrike" spc="-1">
                <a:solidFill>
                  <a:srgbClr val="E0F2F1"/>
                </a:solidFill>
                <a:latin typeface="Calibri"/>
                <a:ea typeface="Calibri"/>
              </a:rPr>
              <a:t>Used in 40+ countries · Founded 2004 · Deployed in Uganda, Kenya, Rwanda, South Africa, Haiti, India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948042" name="Shape 5"/>
          <p:cNvSpPr/>
          <p:nvPr/>
        </p:nvSpPr>
        <p:spPr bwMode="auto">
          <a:xfrm>
            <a:off x="457200" y="1755720"/>
            <a:ext cx="411444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6277008" name="Shape 6"/>
          <p:cNvSpPr/>
          <p:nvPr/>
        </p:nvSpPr>
        <p:spPr bwMode="auto">
          <a:xfrm>
            <a:off x="457200" y="1755720"/>
            <a:ext cx="72720" cy="14626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49450303" name="Image 1" descr="preencoded.png"/>
          <p:cNvPicPr/>
          <p:nvPr/>
        </p:nvPicPr>
        <p:blipFill rotWithShape="1">
          <a:blip r:embed="rId4"/>
          <a:stretch/>
        </p:blipFill>
        <p:spPr bwMode="auto">
          <a:xfrm>
            <a:off x="640080" y="189288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419750329" name="Text 7"/>
          <p:cNvSpPr/>
          <p:nvPr/>
        </p:nvSpPr>
        <p:spPr bwMode="auto">
          <a:xfrm>
            <a:off x="1143000" y="18655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50" b="1" strike="noStrike" spc="-1">
                <a:solidFill>
                  <a:srgbClr val="0D2137"/>
                </a:solidFill>
                <a:latin typeface="Calibri"/>
                <a:ea typeface="Calibri"/>
              </a:rPr>
              <a:t>Patient-Centric Design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047236" name="Text 8"/>
          <p:cNvSpPr/>
          <p:nvPr/>
        </p:nvSpPr>
        <p:spPr bwMode="auto">
          <a:xfrm>
            <a:off x="640080" y="230436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1E293B"/>
                </a:solidFill>
                <a:latin typeface="Calibri"/>
                <a:ea typeface="Calibri"/>
              </a:rPr>
              <a:t>All data organized around a central patient record — directly informed our design to make patient_id the central FK across all tables.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622853" name="Shape 9"/>
          <p:cNvSpPr/>
          <p:nvPr/>
        </p:nvSpPr>
        <p:spPr bwMode="auto">
          <a:xfrm>
            <a:off x="4800600" y="1755720"/>
            <a:ext cx="411444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0293818" name="Shape 10"/>
          <p:cNvSpPr/>
          <p:nvPr/>
        </p:nvSpPr>
        <p:spPr bwMode="auto">
          <a:xfrm>
            <a:off x="4800600" y="1755720"/>
            <a:ext cx="72720" cy="14626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3513998" name="Image 2" descr="preencoded.png"/>
          <p:cNvPicPr/>
          <p:nvPr/>
        </p:nvPicPr>
        <p:blipFill rotWithShape="1">
          <a:blip r:embed="rId5"/>
          <a:stretch/>
        </p:blipFill>
        <p:spPr bwMode="auto">
          <a:xfrm>
            <a:off x="4983480" y="189288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87074391" name="Text 11"/>
          <p:cNvSpPr/>
          <p:nvPr/>
        </p:nvSpPr>
        <p:spPr bwMode="auto">
          <a:xfrm>
            <a:off x="5486400" y="18655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50" b="1" strike="noStrike" spc="-1">
                <a:solidFill>
                  <a:srgbClr val="0D2137"/>
                </a:solidFill>
                <a:latin typeface="Calibri"/>
                <a:ea typeface="Calibri"/>
              </a:rPr>
              <a:t>Role-Based Access Control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137413" name="Text 12"/>
          <p:cNvSpPr/>
          <p:nvPr/>
        </p:nvSpPr>
        <p:spPr bwMode="auto">
          <a:xfrm>
            <a:off x="4983480" y="230436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1E293B"/>
                </a:solidFill>
                <a:latin typeface="Calibri"/>
                <a:ea typeface="Calibri"/>
              </a:rPr>
              <a:t>OpenMRS assigns different permissions per role — informed our role-based UI menu structure for doctors, nurses, receptionists, and admins.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601596" name="Shape 13"/>
          <p:cNvSpPr/>
          <p:nvPr/>
        </p:nvSpPr>
        <p:spPr bwMode="auto">
          <a:xfrm>
            <a:off x="457200" y="3355920"/>
            <a:ext cx="411444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711504" name="Shape 14"/>
          <p:cNvSpPr/>
          <p:nvPr/>
        </p:nvSpPr>
        <p:spPr bwMode="auto">
          <a:xfrm>
            <a:off x="457200" y="3355920"/>
            <a:ext cx="72720" cy="14626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14378630" name="Image 3" descr="preencoded.png"/>
          <p:cNvPicPr/>
          <p:nvPr/>
        </p:nvPicPr>
        <p:blipFill rotWithShape="1">
          <a:blip r:embed="rId6"/>
          <a:stretch/>
        </p:blipFill>
        <p:spPr bwMode="auto">
          <a:xfrm>
            <a:off x="640080" y="349308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000465458" name="Text 15"/>
          <p:cNvSpPr/>
          <p:nvPr/>
        </p:nvSpPr>
        <p:spPr bwMode="auto">
          <a:xfrm>
            <a:off x="1143000" y="34657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50" b="1" strike="noStrike" spc="-1">
                <a:solidFill>
                  <a:srgbClr val="0D2137"/>
                </a:solidFill>
                <a:latin typeface="Calibri"/>
                <a:ea typeface="Calibri"/>
              </a:rPr>
              <a:t>Encounter vs Visit Model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628733" name="Text 16"/>
          <p:cNvSpPr/>
          <p:nvPr/>
        </p:nvSpPr>
        <p:spPr bwMode="auto">
          <a:xfrm>
            <a:off x="640080" y="390456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1E293B"/>
                </a:solidFill>
                <a:latin typeface="Calibri"/>
                <a:ea typeface="Calibri"/>
              </a:rPr>
              <a:t>OpenMRS separates a Visit (period of care) from an Encounter (single interaction) — informed our separate Appointments and Medical Records tables.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696418" name="Shape 17"/>
          <p:cNvSpPr/>
          <p:nvPr/>
        </p:nvSpPr>
        <p:spPr bwMode="auto">
          <a:xfrm>
            <a:off x="4800600" y="3355920"/>
            <a:ext cx="411444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298586" name="Shape 18"/>
          <p:cNvSpPr/>
          <p:nvPr/>
        </p:nvSpPr>
        <p:spPr bwMode="auto">
          <a:xfrm>
            <a:off x="4800600" y="3355920"/>
            <a:ext cx="72720" cy="146268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3435708" name="Image 4" descr="preencoded.png"/>
          <p:cNvPicPr/>
          <p:nvPr/>
        </p:nvPicPr>
        <p:blipFill rotWithShape="1">
          <a:blip r:embed="rId7"/>
          <a:stretch/>
        </p:blipFill>
        <p:spPr bwMode="auto">
          <a:xfrm>
            <a:off x="4983480" y="349308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136840912" name="Text 19"/>
          <p:cNvSpPr/>
          <p:nvPr/>
        </p:nvSpPr>
        <p:spPr bwMode="auto">
          <a:xfrm>
            <a:off x="5486400" y="34657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50" b="1" strike="noStrike" spc="-1">
                <a:solidFill>
                  <a:srgbClr val="0D2137"/>
                </a:solidFill>
                <a:latin typeface="Calibri"/>
                <a:ea typeface="Calibri"/>
              </a:rPr>
              <a:t>Audit Trails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591466" name="Text 20"/>
          <p:cNvSpPr/>
          <p:nvPr/>
        </p:nvSpPr>
        <p:spPr bwMode="auto">
          <a:xfrm>
            <a:off x="4983480" y="390456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strike="noStrike" spc="-1">
                <a:solidFill>
                  <a:srgbClr val="1E293B"/>
                </a:solidFill>
                <a:latin typeface="Calibri"/>
                <a:ea typeface="Calibri"/>
              </a:rPr>
              <a:t>OpenMRS logs every record change with timestamp and user — noted as a future enhancement in our system limitations section.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A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631994" name="Text 0"/>
          <p:cNvSpPr/>
          <p:nvPr/>
        </p:nvSpPr>
        <p:spPr bwMode="auto">
          <a:xfrm>
            <a:off x="457200" y="2286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strike="noStrike" spc="-1">
                <a:solidFill>
                  <a:srgbClr val="0D2137"/>
                </a:solidFill>
                <a:latin typeface="Georgia"/>
                <a:ea typeface="Georgia"/>
              </a:rPr>
              <a:t>System Limitations &amp; Conclusion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926346" name="Shape 1"/>
          <p:cNvSpPr/>
          <p:nvPr/>
        </p:nvSpPr>
        <p:spPr bwMode="auto">
          <a:xfrm>
            <a:off x="457200" y="768240"/>
            <a:ext cx="1279800" cy="5436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6887700" name="Text 2"/>
          <p:cNvSpPr/>
          <p:nvPr/>
        </p:nvSpPr>
        <p:spPr bwMode="auto">
          <a:xfrm>
            <a:off x="457200" y="9144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strike="noStrike" spc="-1">
                <a:solidFill>
                  <a:srgbClr val="0D2137"/>
                </a:solidFill>
                <a:latin typeface="Calibri"/>
                <a:ea typeface="Calibri"/>
              </a:rPr>
              <a:t>Current Limitations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2108839" name="Text 3"/>
          <p:cNvSpPr/>
          <p:nvPr/>
        </p:nvSpPr>
        <p:spPr bwMode="auto">
          <a:xfrm>
            <a:off x="457200" y="1280160"/>
            <a:ext cx="402300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200" b="0" strike="noStrike" spc="-1">
                <a:solidFill>
                  <a:srgbClr val="1E293B"/>
                </a:solidFill>
                <a:latin typeface="Calibri"/>
                <a:ea typeface="Calibri"/>
              </a:rPr>
              <a:t>No real-time medical device integration (manual entry required)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200" b="0" strike="noStrike" spc="-1">
                <a:solidFill>
                  <a:srgbClr val="1E293B"/>
                </a:solidFill>
                <a:latin typeface="Calibri"/>
                <a:ea typeface="Calibri"/>
              </a:rPr>
              <a:t>Single-hospital scope — no inter-hospital record sharing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200" b="0" strike="noStrike" spc="-1">
                <a:solidFill>
                  <a:srgbClr val="1E293B"/>
                </a:solidFill>
                <a:latin typeface="Calibri"/>
                <a:ea typeface="Calibri"/>
              </a:rPr>
              <a:t>No AI-based clinical decision support or drug alerts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200" b="0" strike="noStrike" spc="-1">
                <a:solidFill>
                  <a:srgbClr val="1E293B"/>
                </a:solidFill>
                <a:latin typeface="Calibri"/>
                <a:ea typeface="Calibri"/>
              </a:rPr>
              <a:t>English-only — no multilingual support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E293B"/>
              </a:buClr>
              <a:buFont typeface="Symbol"/>
              <a:buChar char=""/>
              <a:defRPr/>
            </a:pPr>
            <a:r>
              <a:rPr lang="en-US" sz="1200" b="0" strike="noStrike" spc="-1">
                <a:solidFill>
                  <a:srgbClr val="1E293B"/>
                </a:solidFill>
                <a:latin typeface="Calibri"/>
                <a:ea typeface="Calibri"/>
              </a:rPr>
              <a:t>Desktop-only — no mobile application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914955" name="Shape 4"/>
          <p:cNvSpPr/>
          <p:nvPr/>
        </p:nvSpPr>
        <p:spPr bwMode="auto">
          <a:xfrm>
            <a:off x="4754880" y="914400"/>
            <a:ext cx="4205880" cy="397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round/>
          </a:ln>
          <a:effectLst>
            <a:outerShdw blurRad="101520" dist="37674" dir="8100000" sx="100000" sy="100000" kx="0" ky="0" algn="bl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00208" name="Shape 5"/>
          <p:cNvSpPr/>
          <p:nvPr/>
        </p:nvSpPr>
        <p:spPr bwMode="auto">
          <a:xfrm>
            <a:off x="4754880" y="914400"/>
            <a:ext cx="4205880" cy="637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69304" name="Text 6"/>
          <p:cNvSpPr/>
          <p:nvPr/>
        </p:nvSpPr>
        <p:spPr bwMode="auto">
          <a:xfrm>
            <a:off x="4892039" y="105156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00" b="1" strike="noStrike" spc="97">
                <a:solidFill>
                  <a:srgbClr val="0B7A75"/>
                </a:solidFill>
                <a:latin typeface="Calibri"/>
                <a:ea typeface="Calibri"/>
              </a:rPr>
              <a:t>Project Summary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740691" name="Text 7"/>
          <p:cNvSpPr/>
          <p:nvPr/>
        </p:nvSpPr>
        <p:spPr bwMode="auto">
          <a:xfrm>
            <a:off x="4892039" y="1463040"/>
            <a:ext cx="393156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  <a:defRPr/>
            </a:pP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✔  </a:t>
            </a: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9 tables designed, normalized, and implemented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  <a:defRPr/>
            </a:pP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✔  </a:t>
            </a: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Full ERD with multiplicities documented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  <a:defRPr/>
            </a:pP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✔  </a:t>
            </a: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10 functional SQL queries demonstrated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  <a:defRPr/>
            </a:pP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✔  </a:t>
            </a: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Business case with ROI analysis completed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  <a:defRPr/>
            </a:pP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✔  </a:t>
            </a: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OpenMRS studied as real-world reference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  <a:defRPr/>
            </a:pP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✔  </a:t>
            </a: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Role-based UI dialogue structure designed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  <a:defRPr/>
            </a:pP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✔  </a:t>
            </a: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System covers patients, appointments,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  <a:defRPr/>
            </a:pP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     </a:t>
            </a: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medical records, prescriptions, lab tests,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  <a:defRPr/>
            </a:pP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     </a:t>
            </a: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wards, admissions, doctors &amp; nurses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370344" name="Shape 8"/>
          <p:cNvSpPr/>
          <p:nvPr/>
        </p:nvSpPr>
        <p:spPr bwMode="auto">
          <a:xfrm>
            <a:off x="457200" y="3977640"/>
            <a:ext cx="4023000" cy="914040"/>
          </a:xfrm>
          <a:prstGeom prst="rect">
            <a:avLst/>
          </a:prstGeom>
          <a:solidFill>
            <a:srgbClr val="E0F2F1"/>
          </a:solidFill>
          <a:ln w="12700">
            <a:solidFill>
              <a:srgbClr val="E0F2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176309" name="Shape 9"/>
          <p:cNvSpPr/>
          <p:nvPr/>
        </p:nvSpPr>
        <p:spPr bwMode="auto">
          <a:xfrm>
            <a:off x="457200" y="3977640"/>
            <a:ext cx="72720" cy="9140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2330863" name="Text 10"/>
          <p:cNvSpPr/>
          <p:nvPr/>
        </p:nvSpPr>
        <p:spPr bwMode="auto">
          <a:xfrm>
            <a:off x="594360" y="402336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0" i="1" strike="noStrike" spc="-1">
                <a:solidFill>
                  <a:srgbClr val="1E293B"/>
                </a:solidFill>
                <a:latin typeface="Calibri"/>
                <a:ea typeface="Calibri"/>
              </a:rPr>
              <a:t>The EMR system demonstrates the real-world power of relational database design — transforming complex hospital workflows into a structured, queryable, and secure digital system.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D213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729814" name="Shape 0"/>
          <p:cNvSpPr/>
          <p:nvPr/>
        </p:nvSpPr>
        <p:spPr bwMode="auto">
          <a:xfrm>
            <a:off x="0" y="0"/>
            <a:ext cx="164160" cy="51433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3522485" name="Shape 1"/>
          <p:cNvSpPr/>
          <p:nvPr/>
        </p:nvSpPr>
        <p:spPr bwMode="auto">
          <a:xfrm>
            <a:off x="164520" y="4297680"/>
            <a:ext cx="8979120" cy="8456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76446439" name="Image 0" descr="preencoded.png"/>
          <p:cNvPicPr/>
          <p:nvPr/>
        </p:nvPicPr>
        <p:blipFill rotWithShape="1">
          <a:blip r:embed="rId3">
            <a:alphaModFix amt="75000"/>
          </a:blip>
          <a:stretch/>
        </p:blipFill>
        <p:spPr bwMode="auto">
          <a:xfrm>
            <a:off x="6858000" y="457200"/>
            <a:ext cx="1828440" cy="1828440"/>
          </a:xfrm>
          <a:prstGeom prst="rect">
            <a:avLst/>
          </a:prstGeom>
          <a:ln w="0">
            <a:noFill/>
          </a:ln>
        </p:spPr>
      </p:pic>
      <p:sp>
        <p:nvSpPr>
          <p:cNvPr id="274415315" name="Text 2"/>
          <p:cNvSpPr/>
          <p:nvPr/>
        </p:nvSpPr>
        <p:spPr bwMode="auto">
          <a:xfrm>
            <a:off x="457200" y="1097280"/>
            <a:ext cx="6400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5200" b="1" strike="noStrike" spc="-1">
                <a:solidFill>
                  <a:srgbClr val="FFFFFF"/>
                </a:solidFill>
                <a:latin typeface="Georgia"/>
                <a:ea typeface="Georgia"/>
              </a:rPr>
              <a:t>Thank You</a:t>
            </a:r>
            <a:endParaRPr lang="en-US" sz="5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8756751" name="Text 3"/>
          <p:cNvSpPr/>
          <p:nvPr/>
        </p:nvSpPr>
        <p:spPr bwMode="auto">
          <a:xfrm>
            <a:off x="457200" y="224028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strike="noStrike" spc="-1">
                <a:solidFill>
                  <a:srgbClr val="0D9488"/>
                </a:solidFill>
                <a:latin typeface="Calibri"/>
                <a:ea typeface="Calibri"/>
              </a:rPr>
              <a:t>Electronic Medical Records System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5607239" name="Text 4"/>
          <p:cNvSpPr/>
          <p:nvPr/>
        </p:nvSpPr>
        <p:spPr bwMode="auto">
          <a:xfrm>
            <a:off x="457200" y="2697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i="1" strike="noStrike" spc="-1">
                <a:solidFill>
                  <a:srgbClr val="A0C4BF"/>
                </a:solidFill>
                <a:latin typeface="Calibri"/>
                <a:ea typeface="Calibri"/>
              </a:rPr>
              <a:t>Hospital Management System ·  Database Management Systems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7518249" name=""/>
          <p:cNvSpPr txBox="1"/>
          <p:nvPr/>
        </p:nvSpPr>
        <p:spPr bwMode="auto">
          <a:xfrm rot="0" flipH="0" flipV="0">
            <a:off x="2274339" y="4478043"/>
            <a:ext cx="3600774" cy="335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1600" b="0" strike="noStrike" spc="0">
                <a:solidFill>
                  <a:srgbClr val="FFFFFF"/>
                </a:solidFill>
                <a:latin typeface="Arial"/>
              </a:rPr>
              <a:t>Ssegirinya Simon (2025/BCS/215/PS)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 Medical Records System</dc:title>
  <dc:subject>PptxGenJS Presentation</dc:subject>
  <dc:creator>PptxGenJS</dc:creator>
  <dc:description/>
  <dc:language>en-US</dc:language>
  <cp:lastModifiedBy/>
  <cp:revision>7</cp:revision>
  <dcterms:created xsi:type="dcterms:W3CDTF">2026-05-05T20:02:59Z</dcterms:created>
  <dcterms:modified xsi:type="dcterms:W3CDTF">2026-05-06T15:58:11Z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